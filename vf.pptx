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9"/>
  </p:notesMasterIdLst>
  <p:sldIdLst>
    <p:sldId id="256" r:id="rId2"/>
    <p:sldId id="257" r:id="rId3"/>
    <p:sldId id="303" r:id="rId4"/>
    <p:sldId id="268" r:id="rId5"/>
    <p:sldId id="269" r:id="rId6"/>
    <p:sldId id="270" r:id="rId7"/>
    <p:sldId id="271" r:id="rId8"/>
    <p:sldId id="266" r:id="rId9"/>
    <p:sldId id="272" r:id="rId10"/>
    <p:sldId id="304" r:id="rId11"/>
    <p:sldId id="297" r:id="rId12"/>
    <p:sldId id="298" r:id="rId13"/>
    <p:sldId id="258" r:id="rId14"/>
    <p:sldId id="305" r:id="rId15"/>
    <p:sldId id="275" r:id="rId16"/>
    <p:sldId id="296" r:id="rId17"/>
    <p:sldId id="276" r:id="rId18"/>
    <p:sldId id="306" r:id="rId19"/>
    <p:sldId id="290" r:id="rId20"/>
    <p:sldId id="307" r:id="rId21"/>
    <p:sldId id="291" r:id="rId22"/>
    <p:sldId id="294" r:id="rId23"/>
    <p:sldId id="295" r:id="rId24"/>
    <p:sldId id="292" r:id="rId25"/>
    <p:sldId id="281" r:id="rId26"/>
    <p:sldId id="277" r:id="rId27"/>
    <p:sldId id="286" r:id="rId28"/>
    <p:sldId id="282" r:id="rId29"/>
    <p:sldId id="308" r:id="rId30"/>
    <p:sldId id="283" r:id="rId31"/>
    <p:sldId id="284" r:id="rId32"/>
    <p:sldId id="299" r:id="rId33"/>
    <p:sldId id="285" r:id="rId34"/>
    <p:sldId id="288" r:id="rId35"/>
    <p:sldId id="300" r:id="rId36"/>
    <p:sldId id="301" r:id="rId37"/>
    <p:sldId id="309" r:id="rId38"/>
  </p:sldIdLst>
  <p:sldSz cx="18288000" cy="10287000"/>
  <p:notesSz cx="6858000" cy="9144000"/>
  <p:embeddedFontLst>
    <p:embeddedFont>
      <p:font typeface="Algerian" panose="04020705040A02060702" pitchFamily="82" charset="0"/>
      <p:regular r:id="rId40"/>
    </p:embeddedFont>
    <p:embeddedFont>
      <p:font typeface="Arial Black" panose="020B0A04020102020204" pitchFamily="34" charset="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6222" autoAdjust="0"/>
  </p:normalViewPr>
  <p:slideViewPr>
    <p:cSldViewPr>
      <p:cViewPr varScale="1">
        <p:scale>
          <a:sx n="73" d="100"/>
          <a:sy n="73" d="100"/>
        </p:scale>
        <p:origin x="59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A66DF-3F15-4197-8780-4E20731221FB}" type="datetimeFigureOut">
              <a:rPr lang="fr-MG" smtClean="0"/>
              <a:t>08/12/2025</a:t>
            </a:fld>
            <a:endParaRPr lang="fr-M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A37DA7-881B-4499-9AFF-79459E7E1D95}" type="slidenum">
              <a:rPr lang="fr-MG" smtClean="0"/>
              <a:t>‹N°›</a:t>
            </a:fld>
            <a:endParaRPr lang="fr-MG"/>
          </a:p>
        </p:txBody>
      </p:sp>
    </p:spTree>
    <p:extLst>
      <p:ext uri="{BB962C8B-B14F-4D97-AF65-F5344CB8AC3E}">
        <p14:creationId xmlns:p14="http://schemas.microsoft.com/office/powerpoint/2010/main" val="2283148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Mr le Président, Merci de m’avoir donné</a:t>
            </a:r>
            <a:r>
              <a:rPr lang="fr-FR" baseline="0" dirty="0"/>
              <a:t> la parole.</a:t>
            </a:r>
            <a:br>
              <a:rPr lang="fr-FR" baseline="0" dirty="0"/>
            </a:br>
            <a:br>
              <a:rPr lang="fr-FR" baseline="0" dirty="0"/>
            </a:br>
            <a:r>
              <a:rPr lang="fr-FR" dirty="0"/>
              <a:t>Bonjour à toutes et à tous.</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a:t>
            </a:fld>
            <a:endParaRPr lang="fr-MG"/>
          </a:p>
        </p:txBody>
      </p:sp>
    </p:spTree>
    <p:extLst>
      <p:ext uri="{BB962C8B-B14F-4D97-AF65-F5344CB8AC3E}">
        <p14:creationId xmlns:p14="http://schemas.microsoft.com/office/powerpoint/2010/main" val="235590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commencer,</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a:t>
            </a:fld>
            <a:endParaRPr lang="fr-MG"/>
          </a:p>
        </p:txBody>
      </p:sp>
    </p:spTree>
    <p:extLst>
      <p:ext uri="{BB962C8B-B14F-4D97-AF65-F5344CB8AC3E}">
        <p14:creationId xmlns:p14="http://schemas.microsoft.com/office/powerpoint/2010/main" val="309290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Je tiens à exprimer ma gratitude envers Dieu tout puissant pour nous avoir tous comblés de santé et de force.</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a:t>
            </a:fld>
            <a:endParaRPr lang="fr-MG"/>
          </a:p>
        </p:txBody>
      </p:sp>
    </p:spTree>
    <p:extLst>
      <p:ext uri="{BB962C8B-B14F-4D97-AF65-F5344CB8AC3E}">
        <p14:creationId xmlns:p14="http://schemas.microsoft.com/office/powerpoint/2010/main" val="1042968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grand merci à Monsieur HAJALALAINA Aimé Richard, Président de l'UF, pour le bon déroulement de l’année universitaire.</a:t>
            </a:r>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4</a:t>
            </a:fld>
            <a:endParaRPr lang="fr-MG"/>
          </a:p>
        </p:txBody>
      </p:sp>
    </p:spTree>
    <p:extLst>
      <p:ext uri="{BB962C8B-B14F-4D97-AF65-F5344CB8AC3E}">
        <p14:creationId xmlns:p14="http://schemas.microsoft.com/office/powerpoint/2010/main" val="3286745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Je suis reconnaissant envers Monsieur MAHATODY THOMAS, Directeur de l'ENI, pour avoir accepté mon inscription dans son établissement.</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5</a:t>
            </a:fld>
            <a:endParaRPr lang="fr-MG"/>
          </a:p>
        </p:txBody>
      </p:sp>
    </p:spTree>
    <p:extLst>
      <p:ext uri="{BB962C8B-B14F-4D97-AF65-F5344CB8AC3E}">
        <p14:creationId xmlns:p14="http://schemas.microsoft.com/office/powerpoint/2010/main" val="151382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a:t>Un immense merci à Monsieur </a:t>
            </a:r>
            <a:r>
              <a:rPr lang="fr-MG" b="1" dirty="0"/>
              <a:t>RASENDRALAHY Yvon Joël</a:t>
            </a:r>
            <a:r>
              <a:rPr lang="fr-FR" baseline="0" dirty="0"/>
              <a:t>, Directeur de la société FUNTOA, pour m'avoir accepté en stage, et de m'avoir donné une place au sein de sa société. Sa générosité et son soutien sont inestimables.</a:t>
            </a:r>
            <a:endParaRPr lang="fr-FR" dirty="0"/>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6</a:t>
            </a:fld>
            <a:endParaRPr lang="fr-MG"/>
          </a:p>
        </p:txBody>
      </p:sp>
    </p:spTree>
    <p:extLst>
      <p:ext uri="{BB962C8B-B14F-4D97-AF65-F5344CB8AC3E}">
        <p14:creationId xmlns:p14="http://schemas.microsoft.com/office/powerpoint/2010/main" val="2651705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Je souhaite exprimer ma gratitude envers les personnes suivantes :</a:t>
            </a:r>
          </a:p>
          <a:p>
            <a:endParaRPr lang="fr-FR" dirty="0"/>
          </a:p>
          <a:p>
            <a:r>
              <a:rPr lang="fr-FR" dirty="0"/>
              <a:t>- Monsieur RAFAMANTANATSOA FONTAINE, Président du Jury.</a:t>
            </a:r>
          </a:p>
          <a:p>
            <a:pPr marL="0" indent="0">
              <a:buFontTx/>
              <a:buNone/>
            </a:pPr>
            <a:r>
              <a:rPr lang="fr-FR" dirty="0"/>
              <a:t>- Monsieur RANDRIANOMENJANAHARY, mon encadreur pédagogique</a:t>
            </a:r>
          </a:p>
          <a:p>
            <a:pPr marL="171450" indent="-171450">
              <a:buFontTx/>
              <a:buChar char="-"/>
            </a:pPr>
            <a:r>
              <a:rPr lang="fr-FR" dirty="0"/>
              <a:t>Monsieur RAZAFINDRAMONJA Clément Aubert, qui évalue ce travail</a:t>
            </a:r>
          </a:p>
          <a:p>
            <a:pPr marL="171450" indent="-171450">
              <a:buFontTx/>
              <a:buChar char="-"/>
            </a:pPr>
            <a:endParaRPr lang="fr-FR" dirty="0"/>
          </a:p>
          <a:p>
            <a:r>
              <a:rPr lang="fr-FR" dirty="0"/>
              <a:t>Je ne voudrais pas oublier tous les membres du corps enseignant et du personnel administratif et technique de l’ENI.</a:t>
            </a:r>
          </a:p>
          <a:p>
            <a:endParaRPr lang="fr-FR" dirty="0"/>
          </a:p>
          <a:p>
            <a:r>
              <a:rPr lang="fr-FR" dirty="0"/>
              <a:t>Ainsi que, ma famille et à mes amis, qu'ils soient proches ou éloignés.</a:t>
            </a:r>
          </a:p>
          <a:p>
            <a:endParaRPr lang="fr-FR" dirty="0"/>
          </a:p>
          <a:p>
            <a:r>
              <a:rPr lang="fr-FR" dirty="0"/>
              <a:t>Merci à vous tous pour votre précieuse collaboration.</a:t>
            </a:r>
          </a:p>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7</a:t>
            </a:fld>
            <a:endParaRPr lang="fr-MG"/>
          </a:p>
        </p:txBody>
      </p:sp>
    </p:spTree>
    <p:extLst>
      <p:ext uri="{BB962C8B-B14F-4D97-AF65-F5344CB8AC3E}">
        <p14:creationId xmlns:p14="http://schemas.microsoft.com/office/powerpoint/2010/main" val="3559024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Aujourd’hui, je vais vous présenter mon travail sur la modernisation du système applicatif du Service Médical Interentreprises, le SMIE.</a:t>
            </a:r>
          </a:p>
          <a:p>
            <a:r>
              <a:rPr lang="fr-FR" dirty="0"/>
              <a:t>Dans un contexte où les technologies évoluent rapidement, les organisations doivent adapter leurs systèmes numériques pour rester efficaces et compétitives. Cela concerne particulièrement les infrastructures informatiques, qui doivent être fiables.  Mon mémoire se concentre sur la mise en place d’une architecture moderne, basée sur une chaîne CI/CD avec GitHub Actions, Docker et un environnement de déploiement sur VPS. L’objectif est d’automatiser l’ensemble du cycle de développement — du code aux tests jusqu’au déploiement — afin de réduire les erreurs, standardiser les environnements et accélérer la livraison logicielle.</a:t>
            </a:r>
          </a:p>
          <a:p>
            <a:r>
              <a:rPr lang="fr-FR" dirty="0"/>
              <a:t>Ce projet poursuit deux objectifs principaux : proposer une solution flexible adaptée aux besoins du SMIE et démontrer l’apport des pratiques DevOps dans l’amélioration de la qualité et de la performance du système.</a:t>
            </a:r>
          </a:p>
          <a:p>
            <a:r>
              <a:rPr lang="fr-FR" dirty="0"/>
              <a:t>Ainsi, il illustre comment l’intégration cohérente de DevOps et de la containerisation constitue un levier stratégique pour la modernisation des systèmes d’information et les évolutions futures du SMIE.</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8</a:t>
            </a:fld>
            <a:endParaRPr lang="fr-MG"/>
          </a:p>
        </p:txBody>
      </p:sp>
    </p:spTree>
    <p:extLst>
      <p:ext uri="{BB962C8B-B14F-4D97-AF65-F5344CB8AC3E}">
        <p14:creationId xmlns:p14="http://schemas.microsoft.com/office/powerpoint/2010/main" val="4210252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Explorons maintenant la structure de notre plan en trois parties</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9</a:t>
            </a:fld>
            <a:endParaRPr lang="fr-MG"/>
          </a:p>
        </p:txBody>
      </p:sp>
    </p:spTree>
    <p:extLst>
      <p:ext uri="{BB962C8B-B14F-4D97-AF65-F5344CB8AC3E}">
        <p14:creationId xmlns:p14="http://schemas.microsoft.com/office/powerpoint/2010/main" val="54177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commençant par la présentation de l’ENI et puis</a:t>
            </a:r>
            <a:r>
              <a:rPr lang="fr-FR" baseline="0" dirty="0"/>
              <a:t> </a:t>
            </a:r>
            <a:r>
              <a:rPr lang="fr-FR" dirty="0"/>
              <a:t>de la société FUNTOA SMIE</a:t>
            </a:r>
            <a:r>
              <a:rPr lang="fr-FR" baseline="0" dirty="0"/>
              <a:t> qui est</a:t>
            </a:r>
            <a:r>
              <a:rPr lang="fr-FR" dirty="0"/>
              <a:t> l'établissement d'accueil </a:t>
            </a:r>
            <a:r>
              <a:rPr lang="fr-FR" baseline="0" dirty="0"/>
              <a:t>et </a:t>
            </a:r>
            <a:r>
              <a:rPr lang="fr-FR" dirty="0"/>
              <a:t>les bases de notre projet informatique.</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10</a:t>
            </a:fld>
            <a:endParaRPr lang="fr-MG"/>
          </a:p>
        </p:txBody>
      </p:sp>
    </p:spTree>
    <p:extLst>
      <p:ext uri="{BB962C8B-B14F-4D97-AF65-F5344CB8AC3E}">
        <p14:creationId xmlns:p14="http://schemas.microsoft.com/office/powerpoint/2010/main" val="2429158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EN deuxième point, nous nous pencherons sur l'analyse et les choix des outils nécessaires pour concrétiser ce projet.</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11</a:t>
            </a:fld>
            <a:endParaRPr lang="fr-MG"/>
          </a:p>
        </p:txBody>
      </p:sp>
    </p:spTree>
    <p:extLst>
      <p:ext uri="{BB962C8B-B14F-4D97-AF65-F5344CB8AC3E}">
        <p14:creationId xmlns:p14="http://schemas.microsoft.com/office/powerpoint/2010/main" val="920781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Enfin, dans la dernière partie, nous passerons à la démonstration, mettant en œuvre concrètement les solutions et les outils choisis</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12</a:t>
            </a:fld>
            <a:endParaRPr lang="fr-MG"/>
          </a:p>
        </p:txBody>
      </p:sp>
    </p:spTree>
    <p:extLst>
      <p:ext uri="{BB962C8B-B14F-4D97-AF65-F5344CB8AC3E}">
        <p14:creationId xmlns:p14="http://schemas.microsoft.com/office/powerpoint/2010/main" val="3677507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Passons</a:t>
            </a:r>
            <a:r>
              <a:rPr lang="fr-FR" baseline="0" dirty="0"/>
              <a:t>,</a:t>
            </a:r>
            <a:r>
              <a:rPr lang="fr-FR" dirty="0"/>
              <a:t> à la présentation de l’ENI.</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13</a:t>
            </a:fld>
            <a:endParaRPr lang="fr-MG"/>
          </a:p>
        </p:txBody>
      </p:sp>
    </p:spTree>
    <p:extLst>
      <p:ext uri="{BB962C8B-B14F-4D97-AF65-F5344CB8AC3E}">
        <p14:creationId xmlns:p14="http://schemas.microsoft.com/office/powerpoint/2010/main" val="702017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B5BF8-DC18-C043-7DE5-4B4E9C2F38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34E6E8-683B-034B-E7C3-373DAC72CE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ACB34C-B0B2-A735-0443-0BE55D6E25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L'École Nationale d'Informatique </a:t>
            </a:r>
            <a:r>
              <a:rPr lang="fr-FR" sz="1200" kern="1200" dirty="0">
                <a:solidFill>
                  <a:schemeClr val="tx1"/>
                </a:solidFill>
                <a:effectLst/>
                <a:latin typeface="+mn-lt"/>
                <a:ea typeface="+mn-ea"/>
                <a:cs typeface="+mn-cs"/>
              </a:rPr>
              <a:t>en abrégé ENI </a:t>
            </a:r>
            <a:r>
              <a:rPr lang="fr-FR" dirty="0"/>
              <a:t>a été fondée le 24 mai 1983. elle se</a:t>
            </a:r>
            <a:r>
              <a:rPr lang="fr-FR" baseline="0" dirty="0"/>
              <a:t> situe</a:t>
            </a:r>
            <a:r>
              <a:rPr lang="fr-FR" dirty="0"/>
              <a:t> à Tanambao Fianarantsoa,</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L’école s'engage à former des spécialistes informaticiens compétents et opérationnels, en suivant une méthode éducative alignée sur le système LMD (Licence Master Doctorat).</a:t>
            </a:r>
          </a:p>
          <a:p>
            <a:endParaRPr lang="fr-MG" dirty="0"/>
          </a:p>
        </p:txBody>
      </p:sp>
      <p:sp>
        <p:nvSpPr>
          <p:cNvPr id="4" name="Espace réservé du numéro de diapositive 3">
            <a:extLst>
              <a:ext uri="{FF2B5EF4-FFF2-40B4-BE49-F238E27FC236}">
                <a16:creationId xmlns:a16="http://schemas.microsoft.com/office/drawing/2014/main" id="{E42226D6-A64B-C945-B1A5-6F64775EF870}"/>
              </a:ext>
            </a:extLst>
          </p:cNvPr>
          <p:cNvSpPr>
            <a:spLocks noGrp="1"/>
          </p:cNvSpPr>
          <p:nvPr>
            <p:ph type="sldNum" sz="quarter" idx="5"/>
          </p:nvPr>
        </p:nvSpPr>
        <p:spPr/>
        <p:txBody>
          <a:bodyPr/>
          <a:lstStyle/>
          <a:p>
            <a:fld id="{B5A37DA7-881B-4499-9AFF-79459E7E1D95}" type="slidenum">
              <a:rPr lang="fr-MG" smtClean="0"/>
              <a:t>14</a:t>
            </a:fld>
            <a:endParaRPr lang="fr-MG"/>
          </a:p>
        </p:txBody>
      </p:sp>
    </p:spTree>
    <p:extLst>
      <p:ext uri="{BB962C8B-B14F-4D97-AF65-F5344CB8AC3E}">
        <p14:creationId xmlns:p14="http://schemas.microsoft.com/office/powerpoint/2010/main" val="3081910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L'ENI propose actuellement 5 parcours de spécialisation, couvrant divers domaines de l'informatique :</a:t>
            </a:r>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15</a:t>
            </a:fld>
            <a:endParaRPr lang="fr-MG"/>
          </a:p>
        </p:txBody>
      </p:sp>
    </p:spTree>
    <p:extLst>
      <p:ext uri="{BB962C8B-B14F-4D97-AF65-F5344CB8AC3E}">
        <p14:creationId xmlns:p14="http://schemas.microsoft.com/office/powerpoint/2010/main" val="3332419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Génie Logiciel et</a:t>
            </a:r>
            <a:r>
              <a:rPr lang="fr-FR" baseline="0" dirty="0"/>
              <a:t> Gestion de</a:t>
            </a:r>
            <a:r>
              <a:rPr lang="fr-FR" dirty="0"/>
              <a:t> Bases de Données</a:t>
            </a:r>
          </a:p>
          <a:p>
            <a:r>
              <a:rPr lang="fr-FR" dirty="0"/>
              <a:t> Administration des Systèmes et Réseaux</a:t>
            </a:r>
          </a:p>
          <a:p>
            <a:r>
              <a:rPr lang="fr-FR" dirty="0"/>
              <a:t> Informatique Générale</a:t>
            </a:r>
          </a:p>
          <a:p>
            <a:r>
              <a:rPr lang="fr-FR" dirty="0"/>
              <a:t>  Gouvernance et Ingénierie de Données (GID)</a:t>
            </a:r>
          </a:p>
          <a:p>
            <a:r>
              <a:rPr lang="fr-FR" dirty="0"/>
              <a:t>  Objets Connectés et Cybersécurité</a:t>
            </a:r>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16</a:t>
            </a:fld>
            <a:endParaRPr lang="fr-MG"/>
          </a:p>
        </p:txBody>
      </p:sp>
    </p:spTree>
    <p:extLst>
      <p:ext uri="{BB962C8B-B14F-4D97-AF65-F5344CB8AC3E}">
        <p14:creationId xmlns:p14="http://schemas.microsoft.com/office/powerpoint/2010/main" val="3306816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maintenant voyons la présentation de FUNTOA SMIE</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17</a:t>
            </a:fld>
            <a:endParaRPr lang="fr-MG"/>
          </a:p>
        </p:txBody>
      </p:sp>
    </p:spTree>
    <p:extLst>
      <p:ext uri="{BB962C8B-B14F-4D97-AF65-F5344CB8AC3E}">
        <p14:creationId xmlns:p14="http://schemas.microsoft.com/office/powerpoint/2010/main" val="1375077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21C61-908D-4980-D8CE-7AD87BAD71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278D1BB-F815-3317-9083-F0EEE01F8D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B93DAA-ECA4-DC71-DF60-802EB261E257}"/>
              </a:ext>
            </a:extLst>
          </p:cNvPr>
          <p:cNvSpPr>
            <a:spLocks noGrp="1"/>
          </p:cNvSpPr>
          <p:nvPr>
            <p:ph type="body" idx="1"/>
          </p:nvPr>
        </p:nvSpPr>
        <p:spPr/>
        <p:txBody>
          <a:bodyPr/>
          <a:lstStyle/>
          <a:p>
            <a:r>
              <a:rPr lang="fr-FR" dirty="0"/>
              <a:t>Le Service Médical Interentreprise FUNTOA (SMIE FUNTOA), basé à Toamasina, est un organisme agréé spécialisé dans la santé au travail pour les salariés des entreprises adhérentes. </a:t>
            </a:r>
          </a:p>
          <a:p>
            <a:r>
              <a:rPr lang="fr-FR" dirty="0"/>
              <a:t>Sa vision repose sur la santé des collaborateurs comme pilier de la performance des entreprises, avec pour mission la prévention des risques, la promotion de la santé et l’amélioration de la qualité de vie au travail. Ses valeurs clés sont l’éthique, la responsabilité, l’innovation et l’accessibilité.</a:t>
            </a:r>
          </a:p>
          <a:p>
            <a:r>
              <a:rPr lang="fr-FR" dirty="0"/>
              <a:t>SMIE FUNTOA collabore avec des entreprises variées telles que CONCENTRIX Tamatave, GALANA Raffinerie et BFV-SG, et bénéficie d’un réseau national incluant FUNHECE Antananarivo, FUNFIA ET FUNABE et d’autres partenaires.</a:t>
            </a:r>
          </a:p>
          <a:p>
            <a:r>
              <a:rPr lang="fr-FR" dirty="0"/>
              <a:t>Son équipe pluridisciplinaire — médecins, spécialistes, infirmiers, pharmaciens, techniciens et personnel administratif — assure un service continu 24h/24 et 7j/7, garantissant une prise en charge efficace, rapide et coordonnée pour les entreprises partenaires.</a:t>
            </a:r>
          </a:p>
          <a:p>
            <a:endParaRPr lang="fr-MG" dirty="0"/>
          </a:p>
        </p:txBody>
      </p:sp>
      <p:sp>
        <p:nvSpPr>
          <p:cNvPr id="4" name="Espace réservé du numéro de diapositive 3">
            <a:extLst>
              <a:ext uri="{FF2B5EF4-FFF2-40B4-BE49-F238E27FC236}">
                <a16:creationId xmlns:a16="http://schemas.microsoft.com/office/drawing/2014/main" id="{6BE2F1B7-909D-B62E-296B-F282C548A094}"/>
              </a:ext>
            </a:extLst>
          </p:cNvPr>
          <p:cNvSpPr>
            <a:spLocks noGrp="1"/>
          </p:cNvSpPr>
          <p:nvPr>
            <p:ph type="sldNum" sz="quarter" idx="5"/>
          </p:nvPr>
        </p:nvSpPr>
        <p:spPr/>
        <p:txBody>
          <a:bodyPr/>
          <a:lstStyle/>
          <a:p>
            <a:fld id="{B5A37DA7-881B-4499-9AFF-79459E7E1D95}" type="slidenum">
              <a:rPr lang="fr-MG" smtClean="0"/>
              <a:t>18</a:t>
            </a:fld>
            <a:endParaRPr lang="fr-MG"/>
          </a:p>
        </p:txBody>
      </p:sp>
    </p:spTree>
    <p:extLst>
      <p:ext uri="{BB962C8B-B14F-4D97-AF65-F5344CB8AC3E}">
        <p14:creationId xmlns:p14="http://schemas.microsoft.com/office/powerpoint/2010/main" val="4182464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avoir exploré l'ENI et FUNTOA, abordons à présent la présentation détaillée du projet </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19</a:t>
            </a:fld>
            <a:endParaRPr lang="fr-MG"/>
          </a:p>
        </p:txBody>
      </p:sp>
    </p:spTree>
    <p:extLst>
      <p:ext uri="{BB962C8B-B14F-4D97-AF65-F5344CB8AC3E}">
        <p14:creationId xmlns:p14="http://schemas.microsoft.com/office/powerpoint/2010/main" val="12861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DE9AB-1351-57AD-91BD-5FDC0DCAAA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EF898F3-C4D0-25AB-29AB-2D136F577E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6FC7FB-B81A-2F23-E047-6DC418BAA903}"/>
              </a:ext>
            </a:extLst>
          </p:cNvPr>
          <p:cNvSpPr>
            <a:spLocks noGrp="1"/>
          </p:cNvSpPr>
          <p:nvPr>
            <p:ph type="body" idx="1"/>
          </p:nvPr>
        </p:nvSpPr>
        <p:spPr/>
        <p:txBody>
          <a:bodyPr/>
          <a:lstStyle/>
          <a:p>
            <a:r>
              <a:rPr lang="fr-FR" dirty="0"/>
              <a:t>Le système de gestion des services médicaux reposait uniquement sur des outils bureautiques comme Excel. Bien que fonctionnel pour un petit volume de données, ce mode de fonctionnement présentait des limites importantes : manque de centralisation, suivi difficile, risques d’erreurs et impossibilité d’automatiser les processus.</a:t>
            </a:r>
            <a:endParaRPr lang="fr-MG" dirty="0"/>
          </a:p>
        </p:txBody>
      </p:sp>
      <p:sp>
        <p:nvSpPr>
          <p:cNvPr id="4" name="Espace réservé du numéro de diapositive 3">
            <a:extLst>
              <a:ext uri="{FF2B5EF4-FFF2-40B4-BE49-F238E27FC236}">
                <a16:creationId xmlns:a16="http://schemas.microsoft.com/office/drawing/2014/main" id="{51FB2D88-B3D9-D7E9-8451-845D4157464E}"/>
              </a:ext>
            </a:extLst>
          </p:cNvPr>
          <p:cNvSpPr>
            <a:spLocks noGrp="1"/>
          </p:cNvSpPr>
          <p:nvPr>
            <p:ph type="sldNum" sz="quarter" idx="5"/>
          </p:nvPr>
        </p:nvSpPr>
        <p:spPr/>
        <p:txBody>
          <a:bodyPr/>
          <a:lstStyle/>
          <a:p>
            <a:fld id="{B5A37DA7-881B-4499-9AFF-79459E7E1D95}" type="slidenum">
              <a:rPr lang="fr-MG" smtClean="0"/>
              <a:t>20</a:t>
            </a:fld>
            <a:endParaRPr lang="fr-MG"/>
          </a:p>
        </p:txBody>
      </p:sp>
    </p:spTree>
    <p:extLst>
      <p:ext uri="{BB962C8B-B14F-4D97-AF65-F5344CB8AC3E}">
        <p14:creationId xmlns:p14="http://schemas.microsoft.com/office/powerpoint/2010/main" val="3610908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projet vise à fournir un système intégré et automatisé, capable de centraliser les données médicales, simplifier les opérations quotidiennes, automatiser les workflows, permettre un suivi en temps réel, offrir une interface conviviale et garantir la sécurité et la confidentialité des informations.</a:t>
            </a:r>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21</a:t>
            </a:fld>
            <a:endParaRPr lang="fr-MG"/>
          </a:p>
        </p:txBody>
      </p:sp>
    </p:spTree>
    <p:extLst>
      <p:ext uri="{BB962C8B-B14F-4D97-AF65-F5344CB8AC3E}">
        <p14:creationId xmlns:p14="http://schemas.microsoft.com/office/powerpoint/2010/main" val="1594086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ce projet, nous avons utilisé </a:t>
            </a:r>
            <a:r>
              <a:rPr lang="fr-FR" b="1" dirty="0"/>
              <a:t>Node.js</a:t>
            </a:r>
            <a:r>
              <a:rPr lang="fr-FR" dirty="0"/>
              <a:t> pour le backend, </a:t>
            </a:r>
            <a:r>
              <a:rPr lang="fr-FR" b="1" dirty="0"/>
              <a:t>React</a:t>
            </a:r>
            <a:r>
              <a:rPr lang="fr-FR" dirty="0"/>
              <a:t> pour le frontend, et </a:t>
            </a:r>
            <a:r>
              <a:rPr lang="fr-FR" b="1" dirty="0"/>
              <a:t>MySQL</a:t>
            </a:r>
            <a:r>
              <a:rPr lang="fr-FR" dirty="0"/>
              <a:t> pour gérer les données. </a:t>
            </a:r>
          </a:p>
          <a:p>
            <a:br>
              <a:rPr lang="fr-FR" dirty="0"/>
            </a:b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22</a:t>
            </a:fld>
            <a:endParaRPr lang="fr-MG"/>
          </a:p>
        </p:txBody>
      </p:sp>
    </p:spTree>
    <p:extLst>
      <p:ext uri="{BB962C8B-B14F-4D97-AF65-F5344CB8AC3E}">
        <p14:creationId xmlns:p14="http://schemas.microsoft.com/office/powerpoint/2010/main" val="26891542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L’application est </a:t>
            </a:r>
            <a:r>
              <a:rPr lang="fr-FR" b="1" dirty="0"/>
              <a:t>containerisée avec Docker</a:t>
            </a:r>
            <a:r>
              <a:rPr lang="fr-FR" dirty="0"/>
              <a:t>, automatisée via </a:t>
            </a:r>
            <a:r>
              <a:rPr lang="fr-FR" b="1" dirty="0"/>
              <a:t>GitHub Actions</a:t>
            </a:r>
            <a:r>
              <a:rPr lang="fr-FR" dirty="0"/>
              <a:t> et hébergée sur un </a:t>
            </a:r>
            <a:r>
              <a:rPr lang="fr-FR" b="1" dirty="0"/>
              <a:t>VPS</a:t>
            </a:r>
            <a:r>
              <a:rPr lang="fr-FR" dirty="0"/>
              <a:t> pour assurer sécurité, performance et évolutivité.</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23</a:t>
            </a:fld>
            <a:endParaRPr lang="fr-MG"/>
          </a:p>
        </p:txBody>
      </p:sp>
    </p:spTree>
    <p:extLst>
      <p:ext uri="{BB962C8B-B14F-4D97-AF65-F5344CB8AC3E}">
        <p14:creationId xmlns:p14="http://schemas.microsoft.com/office/powerpoint/2010/main" val="4266381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résultats attendus du projet sont clairs : une application centralisée, moderne et intuitive, avec une </a:t>
            </a:r>
            <a:r>
              <a:rPr lang="fr-FR" b="1" dirty="0"/>
              <a:t>automatisation complète via la CI/CD</a:t>
            </a:r>
            <a:r>
              <a:rPr lang="fr-FR" dirty="0"/>
              <a:t>. Les données seront plus </a:t>
            </a:r>
            <a:r>
              <a:rPr lang="fr-FR" b="1" dirty="0"/>
              <a:t>fiables, sécurisées et facilement accessibles</a:t>
            </a:r>
            <a:r>
              <a:rPr lang="fr-FR" dirty="0"/>
              <a:t>, ce qui améliorera le suivi, l’efficacité et la productivité du SMIE. Enfin, le système sera </a:t>
            </a:r>
            <a:r>
              <a:rPr lang="fr-FR" b="1" dirty="0"/>
              <a:t>évolutif et simple à maintenir</a:t>
            </a:r>
            <a:r>
              <a:rPr lang="fr-FR" dirty="0"/>
              <a:t>, pour accompagner les besoins futurs.</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24</a:t>
            </a:fld>
            <a:endParaRPr lang="fr-MG"/>
          </a:p>
        </p:txBody>
      </p:sp>
    </p:spTree>
    <p:extLst>
      <p:ext uri="{BB962C8B-B14F-4D97-AF65-F5344CB8AC3E}">
        <p14:creationId xmlns:p14="http://schemas.microsoft.com/office/powerpoint/2010/main" val="3047556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Avec la présentation générale complète, orientons-nous désormais vers l'analyse et la sélection des outils nécessaires</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25</a:t>
            </a:fld>
            <a:endParaRPr lang="fr-MG"/>
          </a:p>
        </p:txBody>
      </p:sp>
    </p:spTree>
    <p:extLst>
      <p:ext uri="{BB962C8B-B14F-4D97-AF65-F5344CB8AC3E}">
        <p14:creationId xmlns:p14="http://schemas.microsoft.com/office/powerpoint/2010/main" val="19297762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moderniser le système, il est crucial d’analyser son fonctionnement actuel. Aujourd’hui, le SMIE utilise principalement des </a:t>
            </a:r>
            <a:r>
              <a:rPr lang="fr-FR" b="1" dirty="0"/>
              <a:t>outils bureautiques comme Excel</a:t>
            </a:r>
            <a:r>
              <a:rPr lang="fr-FR" dirty="0"/>
              <a:t>, avec des fichiers locaux non centralisés. Chaque service gère ses propres données, ce qui entraîne </a:t>
            </a:r>
            <a:r>
              <a:rPr lang="fr-FR" b="1" dirty="0"/>
              <a:t>doublons, incohérences et suivi difficile</a:t>
            </a:r>
            <a:r>
              <a:rPr lang="fr-FR" dirty="0"/>
              <a:t>.</a:t>
            </a:r>
            <a:br>
              <a:rPr lang="fr-FR" dirty="0"/>
            </a:br>
            <a:r>
              <a:rPr lang="fr-FR" dirty="0"/>
              <a:t>Le système ne permet pas de suivi en temps réel ni de génération automatique de rapports, obligeant les responsables à des </a:t>
            </a:r>
            <a:r>
              <a:rPr lang="fr-FR" b="1" dirty="0"/>
              <a:t>traitements manuels longs et sujets aux erreurs</a:t>
            </a:r>
            <a:r>
              <a:rPr lang="fr-FR" dirty="0"/>
              <a:t>, ce qui ralentit la prise de décision et limite l’efficacité globale.</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26</a:t>
            </a:fld>
            <a:endParaRPr lang="fr-MG"/>
          </a:p>
        </p:txBody>
      </p:sp>
    </p:spTree>
    <p:extLst>
      <p:ext uri="{BB962C8B-B14F-4D97-AF65-F5344CB8AC3E}">
        <p14:creationId xmlns:p14="http://schemas.microsoft.com/office/powerpoint/2010/main" val="19297187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y remédier, nous proposons une </a:t>
            </a:r>
            <a:r>
              <a:rPr lang="fr-FR" b="1" dirty="0"/>
              <a:t>solution centralisée et automatisée</a:t>
            </a:r>
            <a:r>
              <a:rPr lang="fr-FR" dirty="0"/>
              <a:t> :</a:t>
            </a:r>
          </a:p>
          <a:p>
            <a:r>
              <a:rPr lang="fr-FR" dirty="0"/>
              <a:t>	Une </a:t>
            </a:r>
            <a:r>
              <a:rPr lang="fr-FR" b="1" dirty="0"/>
              <a:t>base de données MySQL</a:t>
            </a:r>
            <a:r>
              <a:rPr lang="fr-FR" dirty="0"/>
              <a:t> accessible à tous, pour centraliser les informations, sécuriser les données et permettre un accès en temps réel.</a:t>
            </a:r>
          </a:p>
          <a:p>
            <a:r>
              <a:rPr lang="fr-FR" dirty="0"/>
              <a:t>	Un développement structuré avec </a:t>
            </a:r>
            <a:r>
              <a:rPr lang="fr-FR" b="1" dirty="0"/>
              <a:t>Node.js et React</a:t>
            </a:r>
            <a:r>
              <a:rPr lang="fr-FR" dirty="0"/>
              <a:t>, offrant une interface moderne et modulable, facile à maintenir.</a:t>
            </a:r>
          </a:p>
          <a:p>
            <a:r>
              <a:rPr lang="fr-FR" dirty="0"/>
              <a:t>	Une </a:t>
            </a:r>
            <a:r>
              <a:rPr lang="fr-FR" b="1" dirty="0"/>
              <a:t>pipeline CI/CD via GitHub Actions et Docker</a:t>
            </a:r>
            <a:r>
              <a:rPr lang="fr-FR" dirty="0"/>
              <a:t>, pour automatiser tests, build et déploiement, garantissant un </a:t>
            </a:r>
            <a:r>
              <a:rPr lang="fr-FR" b="1" dirty="0"/>
              <a:t>déploiement continu fiable et sécurisé</a:t>
            </a:r>
            <a:r>
              <a:rPr lang="fr-FR" dirty="0"/>
              <a:t>.</a:t>
            </a:r>
          </a:p>
          <a:p>
            <a:r>
              <a:rPr lang="fr-FR" dirty="0"/>
              <a:t>	Une </a:t>
            </a:r>
            <a:r>
              <a:rPr lang="fr-FR" b="1" dirty="0" err="1"/>
              <a:t>containeurisation</a:t>
            </a:r>
            <a:r>
              <a:rPr lang="fr-FR" b="1" dirty="0"/>
              <a:t> avec Docker</a:t>
            </a:r>
            <a:r>
              <a:rPr lang="fr-FR" dirty="0"/>
              <a:t>, assurant portabilité, isolation et cohérence entre développement, test et production.</a:t>
            </a:r>
          </a:p>
          <a:p>
            <a:r>
              <a:rPr lang="fr-FR" dirty="0"/>
              <a:t>	En résumé, cette approche modernise les outils, centralise les données et automatise le développement, améliorant </a:t>
            </a:r>
            <a:r>
              <a:rPr lang="fr-FR" b="1" dirty="0"/>
              <a:t>l’efficacité, la sécurité et l’évolutivité</a:t>
            </a:r>
            <a:r>
              <a:rPr lang="fr-FR" dirty="0"/>
              <a:t> du système médical.</a:t>
            </a:r>
          </a:p>
          <a:p>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27</a:t>
            </a:fld>
            <a:endParaRPr lang="fr-MG"/>
          </a:p>
        </p:txBody>
      </p:sp>
    </p:spTree>
    <p:extLst>
      <p:ext uri="{BB962C8B-B14F-4D97-AF65-F5344CB8AC3E}">
        <p14:creationId xmlns:p14="http://schemas.microsoft.com/office/powerpoint/2010/main" val="3341941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garantir la performance, l’évolutivité de l’application, il est essentiel de </a:t>
            </a:r>
            <a:r>
              <a:rPr lang="fr-FR" b="1" dirty="0"/>
              <a:t>choisir des outils et technologies adaptés</a:t>
            </a:r>
            <a:r>
              <a:rPr lang="fr-FR" dirty="0"/>
              <a:t> à chaque aspect du projet, du développement au déploiement.</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28</a:t>
            </a:fld>
            <a:endParaRPr lang="fr-MG"/>
          </a:p>
        </p:txBody>
      </p:sp>
    </p:spTree>
    <p:extLst>
      <p:ext uri="{BB962C8B-B14F-4D97-AF65-F5344CB8AC3E}">
        <p14:creationId xmlns:p14="http://schemas.microsoft.com/office/powerpoint/2010/main" val="7439890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6D37-1976-6F6A-A438-21F587C1C30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CCE7F5-B217-24A0-DB08-AC58E16F29B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5D0CE2-2EA4-E4F9-0F21-51909701B58D}"/>
              </a:ext>
            </a:extLst>
          </p:cNvPr>
          <p:cNvSpPr>
            <a:spLocks noGrp="1"/>
          </p:cNvSpPr>
          <p:nvPr>
            <p:ph type="body" idx="1"/>
          </p:nvPr>
        </p:nvSpPr>
        <p:spPr/>
        <p:txBody>
          <a:bodyPr/>
          <a:lstStyle/>
          <a:p>
            <a:r>
              <a:rPr lang="fr-FR" dirty="0"/>
              <a:t>Pour l’hébergement, nous avons choisi </a:t>
            </a:r>
            <a:r>
              <a:rPr lang="fr-FR" b="1" dirty="0"/>
              <a:t>OVHCloud</a:t>
            </a:r>
            <a:r>
              <a:rPr lang="fr-FR" dirty="0"/>
              <a:t>, reconnu pour la </a:t>
            </a:r>
            <a:r>
              <a:rPr lang="fr-FR" b="1" dirty="0"/>
              <a:t>fiabilité de son réseau</a:t>
            </a:r>
            <a:r>
              <a:rPr lang="fr-FR" dirty="0"/>
              <a:t>, ses </a:t>
            </a:r>
            <a:r>
              <a:rPr lang="fr-FR" b="1" dirty="0"/>
              <a:t>ressources performantes</a:t>
            </a:r>
            <a:r>
              <a:rPr lang="fr-FR" dirty="0"/>
              <a:t>, la </a:t>
            </a:r>
            <a:r>
              <a:rPr lang="fr-FR" b="1" dirty="0"/>
              <a:t>conformité de ses centres de données</a:t>
            </a:r>
            <a:r>
              <a:rPr lang="fr-FR" dirty="0"/>
              <a:t> et un </a:t>
            </a:r>
            <a:r>
              <a:rPr lang="fr-FR" b="1" dirty="0"/>
              <a:t>support efficace</a:t>
            </a:r>
            <a:r>
              <a:rPr lang="fr-FR" dirty="0"/>
              <a:t> avec une documentation complète.</a:t>
            </a:r>
            <a:endParaRPr lang="fr-MG" dirty="0"/>
          </a:p>
        </p:txBody>
      </p:sp>
      <p:sp>
        <p:nvSpPr>
          <p:cNvPr id="4" name="Espace réservé du numéro de diapositive 3">
            <a:extLst>
              <a:ext uri="{FF2B5EF4-FFF2-40B4-BE49-F238E27FC236}">
                <a16:creationId xmlns:a16="http://schemas.microsoft.com/office/drawing/2014/main" id="{F6C396DA-C0EE-E072-001C-1F3CD3CBBF1A}"/>
              </a:ext>
            </a:extLst>
          </p:cNvPr>
          <p:cNvSpPr>
            <a:spLocks noGrp="1"/>
          </p:cNvSpPr>
          <p:nvPr>
            <p:ph type="sldNum" sz="quarter" idx="5"/>
          </p:nvPr>
        </p:nvSpPr>
        <p:spPr/>
        <p:txBody>
          <a:bodyPr/>
          <a:lstStyle/>
          <a:p>
            <a:fld id="{B5A37DA7-881B-4499-9AFF-79459E7E1D95}" type="slidenum">
              <a:rPr lang="fr-MG" smtClean="0"/>
              <a:t>29</a:t>
            </a:fld>
            <a:endParaRPr lang="fr-MG"/>
          </a:p>
        </p:txBody>
      </p:sp>
    </p:spTree>
    <p:extLst>
      <p:ext uri="{BB962C8B-B14F-4D97-AF65-F5344CB8AC3E}">
        <p14:creationId xmlns:p14="http://schemas.microsoft.com/office/powerpoint/2010/main" val="4178156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avons choisi </a:t>
            </a:r>
            <a:r>
              <a:rPr lang="fr-FR" b="1" dirty="0"/>
              <a:t>Docker</a:t>
            </a:r>
            <a:r>
              <a:rPr lang="fr-FR" dirty="0"/>
              <a:t> pour la conteneurisation. Il garantit que l’application fonctionne de la même manière </a:t>
            </a:r>
            <a:r>
              <a:rPr lang="fr-FR" b="1" dirty="0"/>
              <a:t>du développement à la production</a:t>
            </a:r>
            <a:r>
              <a:rPr lang="fr-FR" dirty="0"/>
              <a:t>, grâce à des conteneurs légers et isolés. Docker est </a:t>
            </a:r>
            <a:r>
              <a:rPr lang="fr-FR" b="1" dirty="0"/>
              <a:t>fiable, simple à utiliser, bien documenté</a:t>
            </a:r>
            <a:r>
              <a:rPr lang="fr-FR" dirty="0"/>
              <a:t>, s’intègre parfaitement aux </a:t>
            </a:r>
            <a:r>
              <a:rPr lang="fr-FR" b="1" dirty="0"/>
              <a:t>pipelines CI/CD</a:t>
            </a:r>
            <a:r>
              <a:rPr lang="fr-FR" dirty="0"/>
              <a:t> et assure la </a:t>
            </a:r>
            <a:r>
              <a:rPr lang="fr-FR" b="1" dirty="0"/>
              <a:t>portabilité et la gestion des versions</a:t>
            </a:r>
            <a:r>
              <a:rPr lang="fr-FR" dirty="0"/>
              <a:t> des applications, contrairement à d’autres solutions qui nécessitent plus de configuration.</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31</a:t>
            </a:fld>
            <a:endParaRPr lang="fr-MG"/>
          </a:p>
        </p:txBody>
      </p:sp>
    </p:spTree>
    <p:extLst>
      <p:ext uri="{BB962C8B-B14F-4D97-AF65-F5344CB8AC3E}">
        <p14:creationId xmlns:p14="http://schemas.microsoft.com/office/powerpoint/2010/main" val="2689167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gérer les images Docker, nous avons choisi </a:t>
            </a:r>
            <a:r>
              <a:rPr lang="fr-FR" b="1" dirty="0"/>
              <a:t>GitHub Container </a:t>
            </a:r>
            <a:r>
              <a:rPr lang="fr-FR" b="1" dirty="0" err="1"/>
              <a:t>Registry</a:t>
            </a:r>
            <a:r>
              <a:rPr lang="fr-FR" b="1" dirty="0"/>
              <a:t> (GHCR)</a:t>
            </a:r>
            <a:r>
              <a:rPr lang="fr-FR" dirty="0"/>
              <a:t>. Ce service s’intègre parfaitement avec </a:t>
            </a:r>
            <a:r>
              <a:rPr lang="fr-FR" b="1" dirty="0"/>
              <a:t>GitHub Actions</a:t>
            </a:r>
            <a:r>
              <a:rPr lang="fr-FR" dirty="0"/>
              <a:t>, offrant une </a:t>
            </a:r>
            <a:r>
              <a:rPr lang="fr-FR" b="1" dirty="0"/>
              <a:t>automatisation fluide</a:t>
            </a:r>
            <a:r>
              <a:rPr lang="fr-FR" dirty="0"/>
              <a:t> des </a:t>
            </a:r>
            <a:r>
              <a:rPr lang="fr-FR" dirty="0" err="1"/>
              <a:t>builds</a:t>
            </a:r>
            <a:r>
              <a:rPr lang="fr-FR" dirty="0"/>
              <a:t>, tests et déploiements. Il assure également une </a:t>
            </a:r>
            <a:r>
              <a:rPr lang="fr-FR" b="1" dirty="0"/>
              <a:t>sécurité renforcée</a:t>
            </a:r>
            <a:r>
              <a:rPr lang="fr-FR" dirty="0"/>
              <a:t>, un </a:t>
            </a:r>
            <a:r>
              <a:rPr lang="fr-FR" b="1" dirty="0"/>
              <a:t>contrôle précis des versions</a:t>
            </a:r>
            <a:r>
              <a:rPr lang="fr-FR" dirty="0"/>
              <a:t> et une </a:t>
            </a:r>
            <a:r>
              <a:rPr lang="fr-FR" b="1" dirty="0"/>
              <a:t>haute disponibilité</a:t>
            </a:r>
            <a:r>
              <a:rPr lang="fr-FR" dirty="0"/>
              <a:t>, tout en permettant de gérer des images </a:t>
            </a:r>
            <a:r>
              <a:rPr lang="fr-FR" b="1" dirty="0"/>
              <a:t>publiques ou privées</a:t>
            </a:r>
            <a:r>
              <a:rPr lang="fr-FR" dirty="0"/>
              <a:t> selon les besoins du projet.</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32</a:t>
            </a:fld>
            <a:endParaRPr lang="fr-MG"/>
          </a:p>
        </p:txBody>
      </p:sp>
    </p:spTree>
    <p:extLst>
      <p:ext uri="{BB962C8B-B14F-4D97-AF65-F5344CB8AC3E}">
        <p14:creationId xmlns:p14="http://schemas.microsoft.com/office/powerpoint/2010/main" val="3131834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Nous avons choisi </a:t>
            </a:r>
            <a:r>
              <a:rPr lang="fr-FR" b="1" dirty="0"/>
              <a:t>GitHub Actions</a:t>
            </a:r>
            <a:r>
              <a:rPr lang="fr-FR" dirty="0"/>
              <a:t> car il s’intègre directement au dépôt GitHub, ce qui simplifie énormément la configuration et la maintenance du pipeline CI/CD. Il offre une </a:t>
            </a:r>
            <a:r>
              <a:rPr lang="fr-FR" b="1" dirty="0"/>
              <a:t>grande flexibilité</a:t>
            </a:r>
            <a:r>
              <a:rPr lang="fr-FR" dirty="0"/>
              <a:t>, fonctionne sur plusieurs environnements, dispose d’une </a:t>
            </a:r>
            <a:r>
              <a:rPr lang="fr-FR" b="1" dirty="0"/>
              <a:t>communauté très active</a:t>
            </a:r>
            <a:r>
              <a:rPr lang="fr-FR" dirty="0"/>
              <a:t> et d’une excellente documentation. En plus, il est </a:t>
            </a:r>
            <a:r>
              <a:rPr lang="fr-FR" b="1" dirty="0"/>
              <a:t>gratuit</a:t>
            </a:r>
            <a:r>
              <a:rPr lang="fr-FR" dirty="0"/>
              <a:t> pour les besoins du projet.</a:t>
            </a:r>
            <a:br>
              <a:rPr lang="fr-FR" dirty="0"/>
            </a:br>
            <a:r>
              <a:rPr lang="fr-FR" dirty="0"/>
              <a:t>Grâce à GitHub Actions, nous pouvons automatiser entièrement les </a:t>
            </a:r>
            <a:r>
              <a:rPr lang="fr-FR" dirty="0" err="1"/>
              <a:t>builds</a:t>
            </a:r>
            <a:r>
              <a:rPr lang="fr-FR" dirty="0"/>
              <a:t>, tests et déploiements, garantissant une </a:t>
            </a:r>
            <a:r>
              <a:rPr lang="fr-FR" b="1" dirty="0"/>
              <a:t>livraison rapide, sécurisée et fiable</a:t>
            </a:r>
            <a:r>
              <a:rPr lang="fr-FR" dirty="0"/>
              <a:t> sur le VPS.</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33</a:t>
            </a:fld>
            <a:endParaRPr lang="fr-MG"/>
          </a:p>
        </p:txBody>
      </p:sp>
    </p:spTree>
    <p:extLst>
      <p:ext uri="{BB962C8B-B14F-4D97-AF65-F5344CB8AC3E}">
        <p14:creationId xmlns:p14="http://schemas.microsoft.com/office/powerpoint/2010/main" val="31477255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Maintenant que nous avons vu la partie théorique, passons à la démonstration pour découvrir concrètement comment le système fonctionne.</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35</a:t>
            </a:fld>
            <a:endParaRPr lang="fr-MG"/>
          </a:p>
        </p:txBody>
      </p:sp>
    </p:spTree>
    <p:extLst>
      <p:ext uri="{BB962C8B-B14F-4D97-AF65-F5344CB8AC3E}">
        <p14:creationId xmlns:p14="http://schemas.microsoft.com/office/powerpoint/2010/main" val="8089933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conclusion, ce projet démontre l’importance de moderniser les systèmes d’information du SMIE pour répondre aux exigences actuelles de performance, de fiabilité et de continuité de service. La mise en place d’une chaîne CI/CD, basée sur </a:t>
            </a:r>
            <a:r>
              <a:rPr lang="fr-FR" b="1" dirty="0"/>
              <a:t>GitHub Actions, Docker et un VPS</a:t>
            </a:r>
            <a:r>
              <a:rPr lang="fr-FR" dirty="0"/>
              <a:t>, a permis d’automatiser et de sécuriser tout le cycle de développement et de déploiement.</a:t>
            </a:r>
            <a:br>
              <a:rPr lang="fr-FR" dirty="0"/>
            </a:br>
            <a:r>
              <a:rPr lang="fr-FR" dirty="0"/>
              <a:t>Grâce aux pratiques DevOps, nous avons réduit les interventions manuelles, standardisé les environnements et amélioré la qualité logicielle, tout en garantissant des déploiements rapides, stables et évolutifs.</a:t>
            </a:r>
            <a:br>
              <a:rPr lang="fr-FR" dirty="0"/>
            </a:br>
            <a:r>
              <a:rPr lang="fr-FR" dirty="0"/>
              <a:t>Au-delà des aspects techniques, ce travail montre que l’automatisation, la containerisation et les workflows DevOps sont aujourd’hui des leviers essentiels pour accompagner la transformation numérique des organisations.</a:t>
            </a:r>
            <a:br>
              <a:rPr lang="fr-FR" dirty="0"/>
            </a:br>
            <a:r>
              <a:rPr lang="fr-FR" dirty="0"/>
              <a:t>Cette étude pose ainsi les bases d’une stratégie technologique solide, prête à accueillir de futures améliorations comme le monitoring avancé, le renforcement de la sécurité ou encore l’évolution vers des architectures plus résilientes et modulaires.</a:t>
            </a:r>
            <a:endParaRPr lang="fr-MG" dirty="0"/>
          </a:p>
        </p:txBody>
      </p:sp>
      <p:sp>
        <p:nvSpPr>
          <p:cNvPr id="4" name="Espace réservé du numéro de diapositive 3"/>
          <p:cNvSpPr>
            <a:spLocks noGrp="1"/>
          </p:cNvSpPr>
          <p:nvPr>
            <p:ph type="sldNum" sz="quarter" idx="5"/>
          </p:nvPr>
        </p:nvSpPr>
        <p:spPr/>
        <p:txBody>
          <a:bodyPr/>
          <a:lstStyle/>
          <a:p>
            <a:fld id="{B5A37DA7-881B-4499-9AFF-79459E7E1D95}" type="slidenum">
              <a:rPr lang="fr-MG" smtClean="0"/>
              <a:t>36</a:t>
            </a:fld>
            <a:endParaRPr lang="fr-MG"/>
          </a:p>
        </p:txBody>
      </p:sp>
    </p:spTree>
    <p:extLst>
      <p:ext uri="{BB962C8B-B14F-4D97-AF65-F5344CB8AC3E}">
        <p14:creationId xmlns:p14="http://schemas.microsoft.com/office/powerpoint/2010/main" val="2203383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E843-14DB-1F36-E53E-026C527048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0EB84F-21F3-B41C-22BC-88F9793ABB7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7E9326-1944-281C-E0E6-538838E3F498}"/>
              </a:ext>
            </a:extLst>
          </p:cNvPr>
          <p:cNvSpPr>
            <a:spLocks noGrp="1"/>
          </p:cNvSpPr>
          <p:nvPr>
            <p:ph type="body" idx="1"/>
          </p:nvPr>
        </p:nvSpPr>
        <p:spPr/>
        <p:txBody>
          <a:bodyPr/>
          <a:lstStyle/>
          <a:p>
            <a:endParaRPr lang="fr-MG" dirty="0"/>
          </a:p>
        </p:txBody>
      </p:sp>
      <p:sp>
        <p:nvSpPr>
          <p:cNvPr id="4" name="Espace réservé du numéro de diapositive 3">
            <a:extLst>
              <a:ext uri="{FF2B5EF4-FFF2-40B4-BE49-F238E27FC236}">
                <a16:creationId xmlns:a16="http://schemas.microsoft.com/office/drawing/2014/main" id="{77E52238-AA97-F3C4-1CA6-42CFB011B2BF}"/>
              </a:ext>
            </a:extLst>
          </p:cNvPr>
          <p:cNvSpPr>
            <a:spLocks noGrp="1"/>
          </p:cNvSpPr>
          <p:nvPr>
            <p:ph type="sldNum" sz="quarter" idx="5"/>
          </p:nvPr>
        </p:nvSpPr>
        <p:spPr/>
        <p:txBody>
          <a:bodyPr/>
          <a:lstStyle/>
          <a:p>
            <a:fld id="{B5A37DA7-881B-4499-9AFF-79459E7E1D95}" type="slidenum">
              <a:rPr lang="fr-MG" smtClean="0"/>
              <a:t>37</a:t>
            </a:fld>
            <a:endParaRPr lang="fr-MG"/>
          </a:p>
        </p:txBody>
      </p:sp>
    </p:spTree>
    <p:extLst>
      <p:ext uri="{BB962C8B-B14F-4D97-AF65-F5344CB8AC3E}">
        <p14:creationId xmlns:p14="http://schemas.microsoft.com/office/powerpoint/2010/main" val="2008774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64870" y="6494209"/>
            <a:ext cx="9509466" cy="696867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049321" y="6351932"/>
            <a:ext cx="1141032" cy="471175"/>
            <a:chOff x="0" y="0"/>
            <a:chExt cx="1521375" cy="628233"/>
          </a:xfrm>
        </p:grpSpPr>
        <p:grpSp>
          <p:nvGrpSpPr>
            <p:cNvPr id="21" name="Group 21"/>
            <p:cNvGrpSpPr/>
            <p:nvPr/>
          </p:nvGrpSpPr>
          <p:grpSpPr>
            <a:xfrm>
              <a:off x="0" y="0"/>
              <a:ext cx="628233" cy="62823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297714" y="0"/>
              <a:ext cx="628233" cy="62823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595428" y="0"/>
              <a:ext cx="628233" cy="62823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893143" y="0"/>
              <a:ext cx="628233" cy="62823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grpSp>
        <p:nvGrpSpPr>
          <p:cNvPr id="33" name="Group 33"/>
          <p:cNvGrpSpPr/>
          <p:nvPr/>
        </p:nvGrpSpPr>
        <p:grpSpPr>
          <a:xfrm>
            <a:off x="838200" y="4685464"/>
            <a:ext cx="916071" cy="916071"/>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8686800" y="8039100"/>
            <a:ext cx="601574" cy="601574"/>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4114800" y="5300748"/>
            <a:ext cx="601574" cy="601574"/>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pic>
        <p:nvPicPr>
          <p:cNvPr id="51" name="Image 50">
            <a:extLst>
              <a:ext uri="{FF2B5EF4-FFF2-40B4-BE49-F238E27FC236}">
                <a16:creationId xmlns:a16="http://schemas.microsoft.com/office/drawing/2014/main" id="{173E8B2D-A1EE-A2CB-1EA8-B2285C31C6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3745" y="138911"/>
            <a:ext cx="2169290" cy="2588503"/>
          </a:xfrm>
          <a:prstGeom prst="rect">
            <a:avLst/>
          </a:prstGeom>
        </p:spPr>
      </p:pic>
      <p:pic>
        <p:nvPicPr>
          <p:cNvPr id="52" name="Image 51">
            <a:extLst>
              <a:ext uri="{FF2B5EF4-FFF2-40B4-BE49-F238E27FC236}">
                <a16:creationId xmlns:a16="http://schemas.microsoft.com/office/drawing/2014/main" id="{DD934974-8EAE-4C5F-D0A6-2DC8FDDE11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035" y="451494"/>
            <a:ext cx="2176462" cy="2176462"/>
          </a:xfrm>
          <a:prstGeom prst="rect">
            <a:avLst/>
          </a:prstGeom>
        </p:spPr>
      </p:pic>
      <p:pic>
        <p:nvPicPr>
          <p:cNvPr id="53" name="Image 52">
            <a:extLst>
              <a:ext uri="{FF2B5EF4-FFF2-40B4-BE49-F238E27FC236}">
                <a16:creationId xmlns:a16="http://schemas.microsoft.com/office/drawing/2014/main" id="{936D8B43-D80D-8814-8B47-9A16722CD2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61825" y="534959"/>
            <a:ext cx="3760359" cy="1796406"/>
          </a:xfrm>
          <a:prstGeom prst="rect">
            <a:avLst/>
          </a:prstGeom>
        </p:spPr>
      </p:pic>
      <p:sp>
        <p:nvSpPr>
          <p:cNvPr id="54" name="Rectangle : coins arrondis 53">
            <a:extLst>
              <a:ext uri="{FF2B5EF4-FFF2-40B4-BE49-F238E27FC236}">
                <a16:creationId xmlns:a16="http://schemas.microsoft.com/office/drawing/2014/main" id="{5161AF5B-0FA1-E3FC-CA1A-4950089864FA}"/>
              </a:ext>
            </a:extLst>
          </p:cNvPr>
          <p:cNvSpPr/>
          <p:nvPr/>
        </p:nvSpPr>
        <p:spPr>
          <a:xfrm>
            <a:off x="5105400" y="2916991"/>
            <a:ext cx="9434513" cy="2205038"/>
          </a:xfrm>
          <a:prstGeom prst="roundRect">
            <a:avLst/>
          </a:prstGeom>
          <a:ln w="28575">
            <a:solidFill>
              <a:srgbClr val="E6E6E6"/>
            </a:solidFill>
          </a:ln>
        </p:spPr>
        <p:style>
          <a:lnRef idx="2">
            <a:schemeClr val="accent4"/>
          </a:lnRef>
          <a:fillRef idx="1">
            <a:schemeClr val="lt1"/>
          </a:fillRef>
          <a:effectRef idx="0">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spcAft>
                <a:spcPts val="800"/>
              </a:spcAft>
              <a:buNone/>
            </a:pPr>
            <a:r>
              <a:rPr lang="fr-FR" sz="2800" b="1" kern="100" dirty="0" err="1">
                <a:solidFill>
                  <a:schemeClr val="tx1"/>
                </a:solidFill>
                <a:latin typeface="Algerian" panose="04020705040A02060702" pitchFamily="82" charset="0"/>
                <a:ea typeface="Calibri" panose="020F0502020204030204" pitchFamily="34" charset="0"/>
                <a:cs typeface="Times New Roman" panose="02020603050405020304" pitchFamily="18" charset="0"/>
              </a:rPr>
              <a:t>MODERnISATION</a:t>
            </a:r>
            <a:r>
              <a:rPr lang="fr-FR" sz="2800" b="1" kern="100" dirty="0">
                <a:solidFill>
                  <a:schemeClr val="tx1"/>
                </a:solidFill>
                <a:latin typeface="Algerian" panose="04020705040A02060702" pitchFamily="82" charset="0"/>
                <a:ea typeface="Calibri" panose="020F0502020204030204" pitchFamily="34" charset="0"/>
                <a:cs typeface="Times New Roman" panose="02020603050405020304" pitchFamily="18" charset="0"/>
              </a:rPr>
              <a:t> TECHNOLOGIQUE DU SERVICE MEDICAL INTERENTREPRISE FUNTOA VIA UNE APPROCHE CI/CD</a:t>
            </a:r>
            <a:endParaRPr lang="fr-MG" sz="1600" kern="100" dirty="0">
              <a:solidFill>
                <a:schemeClr val="tx1"/>
              </a:solidFill>
              <a:latin typeface="Algerian" panose="04020705040A02060702" pitchFamily="82" charset="0"/>
              <a:ea typeface="Calibri" panose="020F0502020204030204" pitchFamily="34" charset="0"/>
              <a:cs typeface="Times New Roman" panose="02020603050405020304" pitchFamily="18" charset="0"/>
            </a:endParaRPr>
          </a:p>
        </p:txBody>
      </p:sp>
      <p:sp>
        <p:nvSpPr>
          <p:cNvPr id="56" name="ZoneTexte 55">
            <a:extLst>
              <a:ext uri="{FF2B5EF4-FFF2-40B4-BE49-F238E27FC236}">
                <a16:creationId xmlns:a16="http://schemas.microsoft.com/office/drawing/2014/main" id="{F37F298F-D9A3-7B9F-446E-90F49E1C1742}"/>
              </a:ext>
            </a:extLst>
          </p:cNvPr>
          <p:cNvSpPr txBox="1"/>
          <p:nvPr/>
        </p:nvSpPr>
        <p:spPr>
          <a:xfrm>
            <a:off x="583745" y="7866390"/>
            <a:ext cx="5664655" cy="1391663"/>
          </a:xfrm>
          <a:prstGeom prst="rect">
            <a:avLst/>
          </a:prstGeom>
          <a:noFill/>
        </p:spPr>
        <p:txBody>
          <a:bodyPr wrap="square">
            <a:spAutoFit/>
          </a:bodyPr>
          <a:lstStyle/>
          <a:p>
            <a:pPr algn="l">
              <a:lnSpc>
                <a:spcPct val="150000"/>
              </a:lnSpc>
              <a:spcAft>
                <a:spcPts val="800"/>
              </a:spcAft>
              <a:buNone/>
            </a:pPr>
            <a:r>
              <a:rPr lang="fr-FR" kern="100" dirty="0">
                <a:effectLst/>
                <a:latin typeface="Times New Roman" panose="02020603050405020304" pitchFamily="18" charset="0"/>
                <a:ea typeface="Calibri" panose="020F0502020204030204" pitchFamily="34" charset="0"/>
                <a:cs typeface="Times New Roman" panose="02020603050405020304" pitchFamily="18" charset="0"/>
              </a:rPr>
              <a:t>Présentée le </a:t>
            </a:r>
            <a:r>
              <a:rPr lang="fr-FR" b="1" kern="100" dirty="0">
                <a:effectLst/>
                <a:latin typeface="Times New Roman" panose="02020603050405020304" pitchFamily="18" charset="0"/>
                <a:ea typeface="Calibri" panose="020F0502020204030204" pitchFamily="34" charset="0"/>
                <a:cs typeface="Times New Roman" panose="02020603050405020304" pitchFamily="18" charset="0"/>
              </a:rPr>
              <a:t>03 Décembre 2025</a:t>
            </a:r>
            <a:endParaRPr lang="fr-M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l">
              <a:lnSpc>
                <a:spcPct val="150000"/>
              </a:lnSpc>
              <a:spcAft>
                <a:spcPts val="800"/>
              </a:spcAft>
              <a:buNone/>
            </a:pPr>
            <a:r>
              <a:rPr lang="fr-FR" kern="100" dirty="0">
                <a:effectLst/>
                <a:latin typeface="Times New Roman" panose="02020603050405020304" pitchFamily="18" charset="0"/>
                <a:ea typeface="Calibri" panose="020F0502020204030204" pitchFamily="34" charset="0"/>
                <a:cs typeface="Times New Roman" panose="02020603050405020304" pitchFamily="18" charset="0"/>
              </a:rPr>
              <a:t>Par Monsieur </a:t>
            </a:r>
            <a:r>
              <a:rPr lang="fr-FR" b="1" kern="100" dirty="0">
                <a:effectLst/>
                <a:latin typeface="Times New Roman" panose="02020603050405020304" pitchFamily="18" charset="0"/>
                <a:ea typeface="Calibri" panose="020F0502020204030204" pitchFamily="34" charset="0"/>
                <a:cs typeface="Times New Roman" panose="02020603050405020304" pitchFamily="18" charset="0"/>
              </a:rPr>
              <a:t>RAZAFIMAHARO</a:t>
            </a:r>
            <a:r>
              <a:rPr lang="fr-FR" kern="100" dirty="0">
                <a:effectLst/>
                <a:latin typeface="Times New Roman" panose="02020603050405020304" pitchFamily="18" charset="0"/>
                <a:ea typeface="Calibri" panose="020F0502020204030204" pitchFamily="34" charset="0"/>
                <a:cs typeface="Times New Roman" panose="02020603050405020304" pitchFamily="18" charset="0"/>
              </a:rPr>
              <a:t> Mamy Tiandrainy </a:t>
            </a:r>
            <a:r>
              <a:rPr lang="fr-FR" i="1" kern="100" dirty="0">
                <a:effectLst/>
                <a:latin typeface="Times New Roman" panose="02020603050405020304" pitchFamily="18" charset="0"/>
                <a:ea typeface="Calibri" panose="020F0502020204030204" pitchFamily="34" charset="0"/>
                <a:cs typeface="Times New Roman" panose="02020603050405020304" pitchFamily="18" charset="0"/>
              </a:rPr>
              <a:t>Lolito</a:t>
            </a:r>
            <a:endParaRPr lang="fr-MG"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8" name="ZoneTexte 57">
            <a:extLst>
              <a:ext uri="{FF2B5EF4-FFF2-40B4-BE49-F238E27FC236}">
                <a16:creationId xmlns:a16="http://schemas.microsoft.com/office/drawing/2014/main" id="{1F6345BD-C167-62A7-7E8D-6D10D03E8E6A}"/>
              </a:ext>
            </a:extLst>
          </p:cNvPr>
          <p:cNvSpPr txBox="1"/>
          <p:nvPr/>
        </p:nvSpPr>
        <p:spPr>
          <a:xfrm>
            <a:off x="9358219" y="5744451"/>
            <a:ext cx="7329581" cy="2638158"/>
          </a:xfrm>
          <a:prstGeom prst="rect">
            <a:avLst/>
          </a:prstGeom>
          <a:noFill/>
        </p:spPr>
        <p:txBody>
          <a:bodyPr wrap="square">
            <a:spAutoFit/>
          </a:bodyPr>
          <a:lstStyle/>
          <a:p>
            <a:pPr algn="l">
              <a:lnSpc>
                <a:spcPct val="150000"/>
              </a:lnSpc>
              <a:spcAft>
                <a:spcPts val="800"/>
              </a:spcAft>
              <a:buNone/>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Membres Du Jury :</a:t>
            </a:r>
            <a:endParaRPr lang="fr-MG"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50000"/>
              </a:lnSpc>
              <a:buFont typeface="Times New Roman" panose="02020603050405020304" pitchFamily="18" charset="0"/>
              <a:buChar char="-"/>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Président</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 Monsieur </a:t>
            </a: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RANDRIANOMENJANAHARY</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Lala Ferdinand, Maître de Conférences</a:t>
            </a:r>
            <a:endParaRPr lang="fr-MG"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50000"/>
              </a:lnSpc>
              <a:buFont typeface="Times New Roman" panose="02020603050405020304" pitchFamily="18" charset="0"/>
              <a:buChar char="-"/>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Examinateur</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 Monsieur </a:t>
            </a: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RAZAFINDRAMONJA</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Clément Aubert, Assistant d’Enseignement Supérieur et de Recherche</a:t>
            </a:r>
            <a:endParaRPr lang="fr-MG"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l">
              <a:lnSpc>
                <a:spcPct val="150000"/>
              </a:lnSpc>
              <a:spcAft>
                <a:spcPts val="800"/>
              </a:spcAft>
              <a:buFont typeface="Times New Roman" panose="02020603050405020304" pitchFamily="18" charset="0"/>
              <a:buChar char="-"/>
            </a:pP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Rapporteur</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 Monsieur </a:t>
            </a:r>
            <a:r>
              <a:rPr lang="fr-FR" sz="1800" b="1" kern="100" dirty="0">
                <a:effectLst/>
                <a:latin typeface="Times New Roman" panose="02020603050405020304" pitchFamily="18" charset="0"/>
                <a:ea typeface="Calibri" panose="020F0502020204030204" pitchFamily="34" charset="0"/>
                <a:cs typeface="Times New Roman" panose="02020603050405020304" pitchFamily="18" charset="0"/>
              </a:rPr>
              <a:t>RAFAMANTANATSOA</a:t>
            </a:r>
            <a:r>
              <a:rPr lang="fr-FR" sz="1800" kern="100" dirty="0">
                <a:effectLst/>
                <a:latin typeface="Times New Roman" panose="02020603050405020304" pitchFamily="18" charset="0"/>
                <a:ea typeface="Calibri" panose="020F0502020204030204" pitchFamily="34" charset="0"/>
                <a:cs typeface="Times New Roman" panose="02020603050405020304" pitchFamily="18" charset="0"/>
              </a:rPr>
              <a:t> Fontaine, Professeur</a:t>
            </a:r>
            <a:endParaRPr lang="fr-MG"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7"/>
          <p:cNvGrpSpPr/>
          <p:nvPr/>
        </p:nvGrpSpPr>
        <p:grpSpPr>
          <a:xfrm>
            <a:off x="-5693364" y="-1721331"/>
            <a:ext cx="28397197" cy="3086100"/>
            <a:chOff x="0" y="0"/>
            <a:chExt cx="7479097" cy="812800"/>
          </a:xfrm>
        </p:grpSpPr>
        <p:sp>
          <p:nvSpPr>
            <p:cNvPr id="18" name="Freeform 18"/>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p:cNvGrpSpPr/>
          <p:nvPr/>
        </p:nvGrpSpPr>
        <p:grpSpPr>
          <a:xfrm>
            <a:off x="-420562" y="560293"/>
            <a:ext cx="1449262" cy="10671445"/>
            <a:chOff x="0" y="0"/>
            <a:chExt cx="381699" cy="2810586"/>
          </a:xfrm>
        </p:grpSpPr>
        <p:sp>
          <p:nvSpPr>
            <p:cNvPr id="24" name="Freeform 24"/>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p:cNvGrpSpPr/>
          <p:nvPr/>
        </p:nvGrpSpPr>
        <p:grpSpPr>
          <a:xfrm>
            <a:off x="16118268" y="557525"/>
            <a:ext cx="1141032" cy="471175"/>
            <a:chOff x="0" y="0"/>
            <a:chExt cx="1521375" cy="628233"/>
          </a:xfrm>
        </p:grpSpPr>
        <p:grpSp>
          <p:nvGrpSpPr>
            <p:cNvPr id="30" name="Group 30"/>
            <p:cNvGrpSpPr/>
            <p:nvPr/>
          </p:nvGrpSpPr>
          <p:grpSpPr>
            <a:xfrm>
              <a:off x="0" y="0"/>
              <a:ext cx="628233" cy="62823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p:cNvGrpSpPr/>
            <p:nvPr/>
          </p:nvGrpSpPr>
          <p:grpSpPr>
            <a:xfrm>
              <a:off x="297714" y="0"/>
              <a:ext cx="628233" cy="62823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p:cNvGrpSpPr/>
            <p:nvPr/>
          </p:nvGrpSpPr>
          <p:grpSpPr>
            <a:xfrm>
              <a:off x="595428" y="0"/>
              <a:ext cx="628233" cy="628233"/>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p:cNvGrpSpPr/>
            <p:nvPr/>
          </p:nvGrpSpPr>
          <p:grpSpPr>
            <a:xfrm>
              <a:off x="893143" y="0"/>
              <a:ext cx="628233" cy="628233"/>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F1A2ACD1-3379-14EE-6851-D0CFDADB84FA}"/>
              </a:ext>
            </a:extLst>
          </p:cNvPr>
          <p:cNvSpPr txBox="1">
            <a:spLocks/>
          </p:cNvSpPr>
          <p:nvPr/>
        </p:nvSpPr>
        <p:spPr>
          <a:xfrm>
            <a:off x="677334" y="1425389"/>
            <a:ext cx="8596668" cy="461597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fr-F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EE94-5355-07E4-C039-D860146AC81B}"/>
            </a:ext>
          </a:extLst>
        </p:cNvPr>
        <p:cNvGrpSpPr/>
        <p:nvPr/>
      </p:nvGrpSpPr>
      <p:grpSpPr>
        <a:xfrm>
          <a:off x="0" y="0"/>
          <a:ext cx="0" cy="0"/>
          <a:chOff x="0" y="0"/>
          <a:chExt cx="0" cy="0"/>
        </a:xfrm>
      </p:grpSpPr>
      <p:grpSp>
        <p:nvGrpSpPr>
          <p:cNvPr id="17" name="Group 17">
            <a:extLst>
              <a:ext uri="{FF2B5EF4-FFF2-40B4-BE49-F238E27FC236}">
                <a16:creationId xmlns:a16="http://schemas.microsoft.com/office/drawing/2014/main" id="{2DAEF48A-EF1B-63D0-0A62-98B27FB93595}"/>
              </a:ext>
            </a:extLst>
          </p:cNvPr>
          <p:cNvGrpSpPr/>
          <p:nvPr/>
        </p:nvGrpSpPr>
        <p:grpSpPr>
          <a:xfrm>
            <a:off x="-5693364" y="-1721331"/>
            <a:ext cx="28397197" cy="3086100"/>
            <a:chOff x="0" y="0"/>
            <a:chExt cx="7479097" cy="812800"/>
          </a:xfrm>
        </p:grpSpPr>
        <p:sp>
          <p:nvSpPr>
            <p:cNvPr id="18" name="Freeform 18">
              <a:extLst>
                <a:ext uri="{FF2B5EF4-FFF2-40B4-BE49-F238E27FC236}">
                  <a16:creationId xmlns:a16="http://schemas.microsoft.com/office/drawing/2014/main" id="{964AD8CD-E4CC-5E2D-F1A6-49F7D8C2CDAF}"/>
                </a:ext>
              </a:extLst>
            </p:cNvPr>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a:extLst>
                <a:ext uri="{FF2B5EF4-FFF2-40B4-BE49-F238E27FC236}">
                  <a16:creationId xmlns:a16="http://schemas.microsoft.com/office/drawing/2014/main" id="{168F36EC-7A44-9287-87E4-BA5E916E3174}"/>
                </a:ext>
              </a:extLst>
            </p:cNvPr>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a:extLst>
              <a:ext uri="{FF2B5EF4-FFF2-40B4-BE49-F238E27FC236}">
                <a16:creationId xmlns:a16="http://schemas.microsoft.com/office/drawing/2014/main" id="{D38C74DA-E490-B218-1FA1-73647C7B9CEA}"/>
              </a:ext>
            </a:extLst>
          </p:cNvPr>
          <p:cNvGrpSpPr/>
          <p:nvPr/>
        </p:nvGrpSpPr>
        <p:grpSpPr>
          <a:xfrm>
            <a:off x="-420562" y="560293"/>
            <a:ext cx="1449262" cy="10671445"/>
            <a:chOff x="0" y="0"/>
            <a:chExt cx="381699" cy="2810586"/>
          </a:xfrm>
        </p:grpSpPr>
        <p:sp>
          <p:nvSpPr>
            <p:cNvPr id="24" name="Freeform 24">
              <a:extLst>
                <a:ext uri="{FF2B5EF4-FFF2-40B4-BE49-F238E27FC236}">
                  <a16:creationId xmlns:a16="http://schemas.microsoft.com/office/drawing/2014/main" id="{7CE766AF-2B8B-A502-D6D8-12F33592C00C}"/>
                </a:ext>
              </a:extLst>
            </p:cNvPr>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a:extLst>
                <a:ext uri="{FF2B5EF4-FFF2-40B4-BE49-F238E27FC236}">
                  <a16:creationId xmlns:a16="http://schemas.microsoft.com/office/drawing/2014/main" id="{B59F04DA-CDEC-CB21-20B1-99E23ED6C42D}"/>
                </a:ext>
              </a:extLst>
            </p:cNvPr>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1EF4D2F2-5DD3-7948-DE12-63A0BE43E7F2}"/>
              </a:ext>
            </a:extLst>
          </p:cNvPr>
          <p:cNvGrpSpPr/>
          <p:nvPr/>
        </p:nvGrpSpPr>
        <p:grpSpPr>
          <a:xfrm>
            <a:off x="16118268" y="557525"/>
            <a:ext cx="1141032" cy="471175"/>
            <a:chOff x="0" y="0"/>
            <a:chExt cx="1521375" cy="628233"/>
          </a:xfrm>
        </p:grpSpPr>
        <p:grpSp>
          <p:nvGrpSpPr>
            <p:cNvPr id="30" name="Group 30">
              <a:extLst>
                <a:ext uri="{FF2B5EF4-FFF2-40B4-BE49-F238E27FC236}">
                  <a16:creationId xmlns:a16="http://schemas.microsoft.com/office/drawing/2014/main" id="{746453DB-536D-92C8-01CF-5E8B0AC66635}"/>
                </a:ext>
              </a:extLst>
            </p:cNvPr>
            <p:cNvGrpSpPr/>
            <p:nvPr/>
          </p:nvGrpSpPr>
          <p:grpSpPr>
            <a:xfrm>
              <a:off x="0" y="0"/>
              <a:ext cx="628233" cy="628233"/>
              <a:chOff x="0" y="0"/>
              <a:chExt cx="812800" cy="812800"/>
            </a:xfrm>
          </p:grpSpPr>
          <p:sp>
            <p:nvSpPr>
              <p:cNvPr id="31" name="Freeform 31">
                <a:extLst>
                  <a:ext uri="{FF2B5EF4-FFF2-40B4-BE49-F238E27FC236}">
                    <a16:creationId xmlns:a16="http://schemas.microsoft.com/office/drawing/2014/main" id="{E3DDCE22-3F06-8E7B-975A-9692EC3AAD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a:extLst>
                  <a:ext uri="{FF2B5EF4-FFF2-40B4-BE49-F238E27FC236}">
                    <a16:creationId xmlns:a16="http://schemas.microsoft.com/office/drawing/2014/main" id="{EAA83018-8349-2E7D-CF1B-55B70770411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a:extLst>
                <a:ext uri="{FF2B5EF4-FFF2-40B4-BE49-F238E27FC236}">
                  <a16:creationId xmlns:a16="http://schemas.microsoft.com/office/drawing/2014/main" id="{081FE6D3-B1BF-1EAA-DD1B-D8CB899CBBED}"/>
                </a:ext>
              </a:extLst>
            </p:cNvPr>
            <p:cNvGrpSpPr/>
            <p:nvPr/>
          </p:nvGrpSpPr>
          <p:grpSpPr>
            <a:xfrm>
              <a:off x="297714" y="0"/>
              <a:ext cx="628233" cy="628233"/>
              <a:chOff x="0" y="0"/>
              <a:chExt cx="812800" cy="812800"/>
            </a:xfrm>
          </p:grpSpPr>
          <p:sp>
            <p:nvSpPr>
              <p:cNvPr id="34" name="Freeform 34">
                <a:extLst>
                  <a:ext uri="{FF2B5EF4-FFF2-40B4-BE49-F238E27FC236}">
                    <a16:creationId xmlns:a16="http://schemas.microsoft.com/office/drawing/2014/main" id="{FF1A3E33-0292-85F9-90E5-4EF5618B63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a:extLst>
                  <a:ext uri="{FF2B5EF4-FFF2-40B4-BE49-F238E27FC236}">
                    <a16:creationId xmlns:a16="http://schemas.microsoft.com/office/drawing/2014/main" id="{C88A2512-F849-BE2D-7E70-9BC19267F41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a:extLst>
                <a:ext uri="{FF2B5EF4-FFF2-40B4-BE49-F238E27FC236}">
                  <a16:creationId xmlns:a16="http://schemas.microsoft.com/office/drawing/2014/main" id="{C246F4DA-6630-ABDA-2E59-3C471CF2AE3B}"/>
                </a:ext>
              </a:extLst>
            </p:cNvPr>
            <p:cNvGrpSpPr/>
            <p:nvPr/>
          </p:nvGrpSpPr>
          <p:grpSpPr>
            <a:xfrm>
              <a:off x="595428" y="0"/>
              <a:ext cx="628233" cy="628233"/>
              <a:chOff x="0" y="0"/>
              <a:chExt cx="812800" cy="812800"/>
            </a:xfrm>
          </p:grpSpPr>
          <p:sp>
            <p:nvSpPr>
              <p:cNvPr id="37" name="Freeform 37">
                <a:extLst>
                  <a:ext uri="{FF2B5EF4-FFF2-40B4-BE49-F238E27FC236}">
                    <a16:creationId xmlns:a16="http://schemas.microsoft.com/office/drawing/2014/main" id="{A05678F9-55DA-171A-0342-338348C826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a:extLst>
                  <a:ext uri="{FF2B5EF4-FFF2-40B4-BE49-F238E27FC236}">
                    <a16:creationId xmlns:a16="http://schemas.microsoft.com/office/drawing/2014/main" id="{3A8FBD35-8C94-D112-9729-320736026C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a:extLst>
                <a:ext uri="{FF2B5EF4-FFF2-40B4-BE49-F238E27FC236}">
                  <a16:creationId xmlns:a16="http://schemas.microsoft.com/office/drawing/2014/main" id="{2D23231A-9AE3-C6C1-399A-1345A112A4D7}"/>
                </a:ext>
              </a:extLst>
            </p:cNvPr>
            <p:cNvGrpSpPr/>
            <p:nvPr/>
          </p:nvGrpSpPr>
          <p:grpSpPr>
            <a:xfrm>
              <a:off x="893143" y="0"/>
              <a:ext cx="628233" cy="628233"/>
              <a:chOff x="0" y="0"/>
              <a:chExt cx="812800" cy="812800"/>
            </a:xfrm>
          </p:grpSpPr>
          <p:sp>
            <p:nvSpPr>
              <p:cNvPr id="40" name="Freeform 40">
                <a:extLst>
                  <a:ext uri="{FF2B5EF4-FFF2-40B4-BE49-F238E27FC236}">
                    <a16:creationId xmlns:a16="http://schemas.microsoft.com/office/drawing/2014/main" id="{52916D77-FBC2-4136-2160-542A1A46D7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a:extLst>
                  <a:ext uri="{FF2B5EF4-FFF2-40B4-BE49-F238E27FC236}">
                    <a16:creationId xmlns:a16="http://schemas.microsoft.com/office/drawing/2014/main" id="{5B1C5583-C6EA-ED71-8E0D-4BA872F78AA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a:extLst>
              <a:ext uri="{FF2B5EF4-FFF2-40B4-BE49-F238E27FC236}">
                <a16:creationId xmlns:a16="http://schemas.microsoft.com/office/drawing/2014/main" id="{E85E4F56-2BC6-D17D-F1CA-793EBA87CB7D}"/>
              </a:ext>
            </a:extLst>
          </p:cNvPr>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4DC5E892-5126-3B19-C9E9-617C98F63B1D}"/>
              </a:ext>
            </a:extLst>
          </p:cNvPr>
          <p:cNvSpPr txBox="1">
            <a:spLocks/>
          </p:cNvSpPr>
          <p:nvPr/>
        </p:nvSpPr>
        <p:spPr>
          <a:xfrm>
            <a:off x="677334" y="1425389"/>
            <a:ext cx="8596668" cy="461597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dirty="0"/>
              <a:t>Remerciement Dieu tout puissant</a:t>
            </a:r>
          </a:p>
        </p:txBody>
      </p:sp>
    </p:spTree>
    <p:extLst>
      <p:ext uri="{BB962C8B-B14F-4D97-AF65-F5344CB8AC3E}">
        <p14:creationId xmlns:p14="http://schemas.microsoft.com/office/powerpoint/2010/main" val="1185398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3EE8B-F50A-65D6-E282-20F8D62B9652}"/>
            </a:ext>
          </a:extLst>
        </p:cNvPr>
        <p:cNvGrpSpPr/>
        <p:nvPr/>
      </p:nvGrpSpPr>
      <p:grpSpPr>
        <a:xfrm>
          <a:off x="0" y="0"/>
          <a:ext cx="0" cy="0"/>
          <a:chOff x="0" y="0"/>
          <a:chExt cx="0" cy="0"/>
        </a:xfrm>
      </p:grpSpPr>
      <p:grpSp>
        <p:nvGrpSpPr>
          <p:cNvPr id="17" name="Group 17">
            <a:extLst>
              <a:ext uri="{FF2B5EF4-FFF2-40B4-BE49-F238E27FC236}">
                <a16:creationId xmlns:a16="http://schemas.microsoft.com/office/drawing/2014/main" id="{06268EA0-BC80-F13C-6799-3950C52492BB}"/>
              </a:ext>
            </a:extLst>
          </p:cNvPr>
          <p:cNvGrpSpPr/>
          <p:nvPr/>
        </p:nvGrpSpPr>
        <p:grpSpPr>
          <a:xfrm>
            <a:off x="-5693364" y="-1721331"/>
            <a:ext cx="28397197" cy="3086100"/>
            <a:chOff x="0" y="0"/>
            <a:chExt cx="7479097" cy="812800"/>
          </a:xfrm>
        </p:grpSpPr>
        <p:sp>
          <p:nvSpPr>
            <p:cNvPr id="18" name="Freeform 18">
              <a:extLst>
                <a:ext uri="{FF2B5EF4-FFF2-40B4-BE49-F238E27FC236}">
                  <a16:creationId xmlns:a16="http://schemas.microsoft.com/office/drawing/2014/main" id="{DB373749-27CF-4F4C-390F-F7C85B337C1A}"/>
                </a:ext>
              </a:extLst>
            </p:cNvPr>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a:extLst>
                <a:ext uri="{FF2B5EF4-FFF2-40B4-BE49-F238E27FC236}">
                  <a16:creationId xmlns:a16="http://schemas.microsoft.com/office/drawing/2014/main" id="{6620950D-48A8-F6B6-4913-02F2A74A83DF}"/>
                </a:ext>
              </a:extLst>
            </p:cNvPr>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a:extLst>
              <a:ext uri="{FF2B5EF4-FFF2-40B4-BE49-F238E27FC236}">
                <a16:creationId xmlns:a16="http://schemas.microsoft.com/office/drawing/2014/main" id="{96B949D1-6A66-7F2B-C631-0B4793F87839}"/>
              </a:ext>
            </a:extLst>
          </p:cNvPr>
          <p:cNvGrpSpPr/>
          <p:nvPr/>
        </p:nvGrpSpPr>
        <p:grpSpPr>
          <a:xfrm>
            <a:off x="-420562" y="560293"/>
            <a:ext cx="1449262" cy="10671445"/>
            <a:chOff x="0" y="0"/>
            <a:chExt cx="381699" cy="2810586"/>
          </a:xfrm>
        </p:grpSpPr>
        <p:sp>
          <p:nvSpPr>
            <p:cNvPr id="24" name="Freeform 24">
              <a:extLst>
                <a:ext uri="{FF2B5EF4-FFF2-40B4-BE49-F238E27FC236}">
                  <a16:creationId xmlns:a16="http://schemas.microsoft.com/office/drawing/2014/main" id="{016E6AC0-B3B2-6A46-4033-26102C2DD161}"/>
                </a:ext>
              </a:extLst>
            </p:cNvPr>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a:extLst>
                <a:ext uri="{FF2B5EF4-FFF2-40B4-BE49-F238E27FC236}">
                  <a16:creationId xmlns:a16="http://schemas.microsoft.com/office/drawing/2014/main" id="{58BA8070-5D61-BBB5-7727-8FCF236E0AFB}"/>
                </a:ext>
              </a:extLst>
            </p:cNvPr>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DD3347C1-53A7-0C8D-222A-2C6A0B6A2957}"/>
              </a:ext>
            </a:extLst>
          </p:cNvPr>
          <p:cNvGrpSpPr/>
          <p:nvPr/>
        </p:nvGrpSpPr>
        <p:grpSpPr>
          <a:xfrm>
            <a:off x="16118268" y="557525"/>
            <a:ext cx="1141032" cy="471175"/>
            <a:chOff x="0" y="0"/>
            <a:chExt cx="1521375" cy="628233"/>
          </a:xfrm>
        </p:grpSpPr>
        <p:grpSp>
          <p:nvGrpSpPr>
            <p:cNvPr id="30" name="Group 30">
              <a:extLst>
                <a:ext uri="{FF2B5EF4-FFF2-40B4-BE49-F238E27FC236}">
                  <a16:creationId xmlns:a16="http://schemas.microsoft.com/office/drawing/2014/main" id="{8002701F-535F-656E-B40E-0A2F27ABB9AC}"/>
                </a:ext>
              </a:extLst>
            </p:cNvPr>
            <p:cNvGrpSpPr/>
            <p:nvPr/>
          </p:nvGrpSpPr>
          <p:grpSpPr>
            <a:xfrm>
              <a:off x="0" y="0"/>
              <a:ext cx="628233" cy="628233"/>
              <a:chOff x="0" y="0"/>
              <a:chExt cx="812800" cy="812800"/>
            </a:xfrm>
          </p:grpSpPr>
          <p:sp>
            <p:nvSpPr>
              <p:cNvPr id="31" name="Freeform 31">
                <a:extLst>
                  <a:ext uri="{FF2B5EF4-FFF2-40B4-BE49-F238E27FC236}">
                    <a16:creationId xmlns:a16="http://schemas.microsoft.com/office/drawing/2014/main" id="{82A7656F-8E4F-B261-22C2-82B4BEF092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a:extLst>
                  <a:ext uri="{FF2B5EF4-FFF2-40B4-BE49-F238E27FC236}">
                    <a16:creationId xmlns:a16="http://schemas.microsoft.com/office/drawing/2014/main" id="{65095F55-9FF9-67CB-90B9-81A93BA8916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a:extLst>
                <a:ext uri="{FF2B5EF4-FFF2-40B4-BE49-F238E27FC236}">
                  <a16:creationId xmlns:a16="http://schemas.microsoft.com/office/drawing/2014/main" id="{1DEC70C0-717D-58C9-CCE1-F8D1E6CE81C4}"/>
                </a:ext>
              </a:extLst>
            </p:cNvPr>
            <p:cNvGrpSpPr/>
            <p:nvPr/>
          </p:nvGrpSpPr>
          <p:grpSpPr>
            <a:xfrm>
              <a:off x="297714" y="0"/>
              <a:ext cx="628233" cy="628233"/>
              <a:chOff x="0" y="0"/>
              <a:chExt cx="812800" cy="812800"/>
            </a:xfrm>
          </p:grpSpPr>
          <p:sp>
            <p:nvSpPr>
              <p:cNvPr id="34" name="Freeform 34">
                <a:extLst>
                  <a:ext uri="{FF2B5EF4-FFF2-40B4-BE49-F238E27FC236}">
                    <a16:creationId xmlns:a16="http://schemas.microsoft.com/office/drawing/2014/main" id="{626A91D6-F221-6AF4-2BC5-9C24F4411E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a:extLst>
                  <a:ext uri="{FF2B5EF4-FFF2-40B4-BE49-F238E27FC236}">
                    <a16:creationId xmlns:a16="http://schemas.microsoft.com/office/drawing/2014/main" id="{2A962912-471A-0448-4555-2E0DCD14861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a:extLst>
                <a:ext uri="{FF2B5EF4-FFF2-40B4-BE49-F238E27FC236}">
                  <a16:creationId xmlns:a16="http://schemas.microsoft.com/office/drawing/2014/main" id="{8C207FBC-5780-8F2E-DDFB-BADECCE1141E}"/>
                </a:ext>
              </a:extLst>
            </p:cNvPr>
            <p:cNvGrpSpPr/>
            <p:nvPr/>
          </p:nvGrpSpPr>
          <p:grpSpPr>
            <a:xfrm>
              <a:off x="595428" y="0"/>
              <a:ext cx="628233" cy="628233"/>
              <a:chOff x="0" y="0"/>
              <a:chExt cx="812800" cy="812800"/>
            </a:xfrm>
          </p:grpSpPr>
          <p:sp>
            <p:nvSpPr>
              <p:cNvPr id="37" name="Freeform 37">
                <a:extLst>
                  <a:ext uri="{FF2B5EF4-FFF2-40B4-BE49-F238E27FC236}">
                    <a16:creationId xmlns:a16="http://schemas.microsoft.com/office/drawing/2014/main" id="{0A7EDCCD-7BE6-3427-92F4-E4490C885E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a:extLst>
                  <a:ext uri="{FF2B5EF4-FFF2-40B4-BE49-F238E27FC236}">
                    <a16:creationId xmlns:a16="http://schemas.microsoft.com/office/drawing/2014/main" id="{67B46DBC-C0CC-2D78-9623-231BF40A8C9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a:extLst>
                <a:ext uri="{FF2B5EF4-FFF2-40B4-BE49-F238E27FC236}">
                  <a16:creationId xmlns:a16="http://schemas.microsoft.com/office/drawing/2014/main" id="{F240E7BA-B604-C23E-721B-946D67E6CE68}"/>
                </a:ext>
              </a:extLst>
            </p:cNvPr>
            <p:cNvGrpSpPr/>
            <p:nvPr/>
          </p:nvGrpSpPr>
          <p:grpSpPr>
            <a:xfrm>
              <a:off x="893143" y="0"/>
              <a:ext cx="628233" cy="628233"/>
              <a:chOff x="0" y="0"/>
              <a:chExt cx="812800" cy="812800"/>
            </a:xfrm>
          </p:grpSpPr>
          <p:sp>
            <p:nvSpPr>
              <p:cNvPr id="40" name="Freeform 40">
                <a:extLst>
                  <a:ext uri="{FF2B5EF4-FFF2-40B4-BE49-F238E27FC236}">
                    <a16:creationId xmlns:a16="http://schemas.microsoft.com/office/drawing/2014/main" id="{E4D39276-CE96-2C4A-2049-3E43C47A45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a:extLst>
                  <a:ext uri="{FF2B5EF4-FFF2-40B4-BE49-F238E27FC236}">
                    <a16:creationId xmlns:a16="http://schemas.microsoft.com/office/drawing/2014/main" id="{2E2CC1A5-5D04-F38D-1FC3-5DB5A0DDC67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a:extLst>
              <a:ext uri="{FF2B5EF4-FFF2-40B4-BE49-F238E27FC236}">
                <a16:creationId xmlns:a16="http://schemas.microsoft.com/office/drawing/2014/main" id="{7ECCB7C8-C9D3-F01C-DF38-F810AE1B8516}"/>
              </a:ext>
            </a:extLst>
          </p:cNvPr>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EE03DC7D-5743-F654-21ED-D3FD6738CEF7}"/>
              </a:ext>
            </a:extLst>
          </p:cNvPr>
          <p:cNvSpPr txBox="1">
            <a:spLocks/>
          </p:cNvSpPr>
          <p:nvPr/>
        </p:nvSpPr>
        <p:spPr>
          <a:xfrm>
            <a:off x="677334" y="1425389"/>
            <a:ext cx="8596668" cy="461597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dirty="0"/>
              <a:t>Remerciement Dieu tout puissant</a:t>
            </a:r>
          </a:p>
          <a:p>
            <a:r>
              <a:rPr lang="fr-FR" b="1" dirty="0"/>
              <a:t>Monsieur HAJALALAINA Aimé Richard</a:t>
            </a:r>
            <a:r>
              <a:rPr lang="fr-FR" dirty="0"/>
              <a:t>, Président de l’Université de Fianarantsoa</a:t>
            </a:r>
          </a:p>
          <a:p>
            <a:endParaRPr lang="fr-FR" dirty="0"/>
          </a:p>
        </p:txBody>
      </p:sp>
    </p:spTree>
    <p:extLst>
      <p:ext uri="{BB962C8B-B14F-4D97-AF65-F5344CB8AC3E}">
        <p14:creationId xmlns:p14="http://schemas.microsoft.com/office/powerpoint/2010/main" val="1737452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07153-A88A-E67E-D491-B420164E7DA3}"/>
            </a:ext>
          </a:extLst>
        </p:cNvPr>
        <p:cNvGrpSpPr/>
        <p:nvPr/>
      </p:nvGrpSpPr>
      <p:grpSpPr>
        <a:xfrm>
          <a:off x="0" y="0"/>
          <a:ext cx="0" cy="0"/>
          <a:chOff x="0" y="0"/>
          <a:chExt cx="0" cy="0"/>
        </a:xfrm>
      </p:grpSpPr>
      <p:grpSp>
        <p:nvGrpSpPr>
          <p:cNvPr id="17" name="Group 17">
            <a:extLst>
              <a:ext uri="{FF2B5EF4-FFF2-40B4-BE49-F238E27FC236}">
                <a16:creationId xmlns:a16="http://schemas.microsoft.com/office/drawing/2014/main" id="{6429DE5F-42CF-B484-9455-ACF0275E2FB7}"/>
              </a:ext>
            </a:extLst>
          </p:cNvPr>
          <p:cNvGrpSpPr/>
          <p:nvPr/>
        </p:nvGrpSpPr>
        <p:grpSpPr>
          <a:xfrm>
            <a:off x="-5693364" y="-1721331"/>
            <a:ext cx="28397197" cy="3086100"/>
            <a:chOff x="0" y="0"/>
            <a:chExt cx="7479097" cy="812800"/>
          </a:xfrm>
        </p:grpSpPr>
        <p:sp>
          <p:nvSpPr>
            <p:cNvPr id="18" name="Freeform 18">
              <a:extLst>
                <a:ext uri="{FF2B5EF4-FFF2-40B4-BE49-F238E27FC236}">
                  <a16:creationId xmlns:a16="http://schemas.microsoft.com/office/drawing/2014/main" id="{6D0566C2-3EF7-F3A9-E2D5-C2DFFB18F319}"/>
                </a:ext>
              </a:extLst>
            </p:cNvPr>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a:extLst>
                <a:ext uri="{FF2B5EF4-FFF2-40B4-BE49-F238E27FC236}">
                  <a16:creationId xmlns:a16="http://schemas.microsoft.com/office/drawing/2014/main" id="{CC3E69DE-8C29-BDE2-C384-6646291C58EE}"/>
                </a:ext>
              </a:extLst>
            </p:cNvPr>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a:extLst>
              <a:ext uri="{FF2B5EF4-FFF2-40B4-BE49-F238E27FC236}">
                <a16:creationId xmlns:a16="http://schemas.microsoft.com/office/drawing/2014/main" id="{36B52BC6-D6C4-0938-D055-FDCAC4C2EE89}"/>
              </a:ext>
            </a:extLst>
          </p:cNvPr>
          <p:cNvGrpSpPr/>
          <p:nvPr/>
        </p:nvGrpSpPr>
        <p:grpSpPr>
          <a:xfrm>
            <a:off x="-420562" y="560293"/>
            <a:ext cx="1449262" cy="10671445"/>
            <a:chOff x="0" y="0"/>
            <a:chExt cx="381699" cy="2810586"/>
          </a:xfrm>
        </p:grpSpPr>
        <p:sp>
          <p:nvSpPr>
            <p:cNvPr id="24" name="Freeform 24">
              <a:extLst>
                <a:ext uri="{FF2B5EF4-FFF2-40B4-BE49-F238E27FC236}">
                  <a16:creationId xmlns:a16="http://schemas.microsoft.com/office/drawing/2014/main" id="{BA270E8E-93DE-816E-489D-C7F435248D84}"/>
                </a:ext>
              </a:extLst>
            </p:cNvPr>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a:extLst>
                <a:ext uri="{FF2B5EF4-FFF2-40B4-BE49-F238E27FC236}">
                  <a16:creationId xmlns:a16="http://schemas.microsoft.com/office/drawing/2014/main" id="{6FF5EC49-B132-0D1F-6CD9-598435DA82BB}"/>
                </a:ext>
              </a:extLst>
            </p:cNvPr>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B10E27B8-D462-A258-640B-9EE7BFA8398F}"/>
              </a:ext>
            </a:extLst>
          </p:cNvPr>
          <p:cNvGrpSpPr/>
          <p:nvPr/>
        </p:nvGrpSpPr>
        <p:grpSpPr>
          <a:xfrm>
            <a:off x="16118268" y="557525"/>
            <a:ext cx="1141032" cy="471175"/>
            <a:chOff x="0" y="0"/>
            <a:chExt cx="1521375" cy="628233"/>
          </a:xfrm>
        </p:grpSpPr>
        <p:grpSp>
          <p:nvGrpSpPr>
            <p:cNvPr id="30" name="Group 30">
              <a:extLst>
                <a:ext uri="{FF2B5EF4-FFF2-40B4-BE49-F238E27FC236}">
                  <a16:creationId xmlns:a16="http://schemas.microsoft.com/office/drawing/2014/main" id="{DB4FAA19-37F2-C0A2-A966-823DDEA515A8}"/>
                </a:ext>
              </a:extLst>
            </p:cNvPr>
            <p:cNvGrpSpPr/>
            <p:nvPr/>
          </p:nvGrpSpPr>
          <p:grpSpPr>
            <a:xfrm>
              <a:off x="0" y="0"/>
              <a:ext cx="628233" cy="628233"/>
              <a:chOff x="0" y="0"/>
              <a:chExt cx="812800" cy="812800"/>
            </a:xfrm>
          </p:grpSpPr>
          <p:sp>
            <p:nvSpPr>
              <p:cNvPr id="31" name="Freeform 31">
                <a:extLst>
                  <a:ext uri="{FF2B5EF4-FFF2-40B4-BE49-F238E27FC236}">
                    <a16:creationId xmlns:a16="http://schemas.microsoft.com/office/drawing/2014/main" id="{A3FCD66C-9B33-A966-6ED9-A28134344D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a:extLst>
                  <a:ext uri="{FF2B5EF4-FFF2-40B4-BE49-F238E27FC236}">
                    <a16:creationId xmlns:a16="http://schemas.microsoft.com/office/drawing/2014/main" id="{192C40FB-CA5F-E22F-6B24-E1DF12F7BE2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a:extLst>
                <a:ext uri="{FF2B5EF4-FFF2-40B4-BE49-F238E27FC236}">
                  <a16:creationId xmlns:a16="http://schemas.microsoft.com/office/drawing/2014/main" id="{0ED60311-75EA-759C-38A8-A93096B4FC37}"/>
                </a:ext>
              </a:extLst>
            </p:cNvPr>
            <p:cNvGrpSpPr/>
            <p:nvPr/>
          </p:nvGrpSpPr>
          <p:grpSpPr>
            <a:xfrm>
              <a:off x="297714" y="0"/>
              <a:ext cx="628233" cy="628233"/>
              <a:chOff x="0" y="0"/>
              <a:chExt cx="812800" cy="812800"/>
            </a:xfrm>
          </p:grpSpPr>
          <p:sp>
            <p:nvSpPr>
              <p:cNvPr id="34" name="Freeform 34">
                <a:extLst>
                  <a:ext uri="{FF2B5EF4-FFF2-40B4-BE49-F238E27FC236}">
                    <a16:creationId xmlns:a16="http://schemas.microsoft.com/office/drawing/2014/main" id="{BAB5D4BB-326C-A6BB-1336-BEDEFC4EA9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a:extLst>
                  <a:ext uri="{FF2B5EF4-FFF2-40B4-BE49-F238E27FC236}">
                    <a16:creationId xmlns:a16="http://schemas.microsoft.com/office/drawing/2014/main" id="{DB9F2FD2-72B1-351C-E4BE-833AFAB9FE9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a:extLst>
                <a:ext uri="{FF2B5EF4-FFF2-40B4-BE49-F238E27FC236}">
                  <a16:creationId xmlns:a16="http://schemas.microsoft.com/office/drawing/2014/main" id="{5BEFFC95-60AF-37DE-2F83-A5A495AF4F94}"/>
                </a:ext>
              </a:extLst>
            </p:cNvPr>
            <p:cNvGrpSpPr/>
            <p:nvPr/>
          </p:nvGrpSpPr>
          <p:grpSpPr>
            <a:xfrm>
              <a:off x="595428" y="0"/>
              <a:ext cx="628233" cy="628233"/>
              <a:chOff x="0" y="0"/>
              <a:chExt cx="812800" cy="812800"/>
            </a:xfrm>
          </p:grpSpPr>
          <p:sp>
            <p:nvSpPr>
              <p:cNvPr id="37" name="Freeform 37">
                <a:extLst>
                  <a:ext uri="{FF2B5EF4-FFF2-40B4-BE49-F238E27FC236}">
                    <a16:creationId xmlns:a16="http://schemas.microsoft.com/office/drawing/2014/main" id="{EB1931A7-68DB-D790-E4F6-0A3E47568A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a:extLst>
                  <a:ext uri="{FF2B5EF4-FFF2-40B4-BE49-F238E27FC236}">
                    <a16:creationId xmlns:a16="http://schemas.microsoft.com/office/drawing/2014/main" id="{CBE7D0A8-8472-F6D1-AFCF-C7ADE75A5B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a:extLst>
                <a:ext uri="{FF2B5EF4-FFF2-40B4-BE49-F238E27FC236}">
                  <a16:creationId xmlns:a16="http://schemas.microsoft.com/office/drawing/2014/main" id="{005FE519-9999-B590-B85A-DD0130B4FE0D}"/>
                </a:ext>
              </a:extLst>
            </p:cNvPr>
            <p:cNvGrpSpPr/>
            <p:nvPr/>
          </p:nvGrpSpPr>
          <p:grpSpPr>
            <a:xfrm>
              <a:off x="893143" y="0"/>
              <a:ext cx="628233" cy="628233"/>
              <a:chOff x="0" y="0"/>
              <a:chExt cx="812800" cy="812800"/>
            </a:xfrm>
          </p:grpSpPr>
          <p:sp>
            <p:nvSpPr>
              <p:cNvPr id="40" name="Freeform 40">
                <a:extLst>
                  <a:ext uri="{FF2B5EF4-FFF2-40B4-BE49-F238E27FC236}">
                    <a16:creationId xmlns:a16="http://schemas.microsoft.com/office/drawing/2014/main" id="{0C41A115-B404-8DB6-B83F-3147FD887D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a:extLst>
                  <a:ext uri="{FF2B5EF4-FFF2-40B4-BE49-F238E27FC236}">
                    <a16:creationId xmlns:a16="http://schemas.microsoft.com/office/drawing/2014/main" id="{59BAFAD6-6EF1-E5D9-99F0-80A8B94539C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a:extLst>
              <a:ext uri="{FF2B5EF4-FFF2-40B4-BE49-F238E27FC236}">
                <a16:creationId xmlns:a16="http://schemas.microsoft.com/office/drawing/2014/main" id="{6A50719B-FE27-3DE6-7986-0BAC0D7C7738}"/>
              </a:ext>
            </a:extLst>
          </p:cNvPr>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CE1D9FBD-A615-B4F3-2E60-419742BA9EA2}"/>
              </a:ext>
            </a:extLst>
          </p:cNvPr>
          <p:cNvSpPr txBox="1">
            <a:spLocks/>
          </p:cNvSpPr>
          <p:nvPr/>
        </p:nvSpPr>
        <p:spPr>
          <a:xfrm>
            <a:off x="677334" y="1425388"/>
            <a:ext cx="8596668" cy="79853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dirty="0"/>
              <a:t>Remerciement Dieu tout puissant</a:t>
            </a:r>
          </a:p>
          <a:p>
            <a:r>
              <a:rPr lang="fr-FR" b="1" dirty="0"/>
              <a:t>Monsieur HAJALALAINA Aimé Richard</a:t>
            </a:r>
            <a:r>
              <a:rPr lang="fr-FR" dirty="0"/>
              <a:t>, Président de l’Université de Fianarantsoa</a:t>
            </a:r>
          </a:p>
          <a:p>
            <a:r>
              <a:rPr lang="fr-FR" b="1" dirty="0"/>
              <a:t>Monsieur MAHATODY Thomas</a:t>
            </a:r>
            <a:r>
              <a:rPr lang="fr-FR" dirty="0"/>
              <a:t>, Directeur de l’ENI</a:t>
            </a:r>
          </a:p>
          <a:p>
            <a:endParaRPr lang="fr-FR" dirty="0"/>
          </a:p>
        </p:txBody>
      </p:sp>
    </p:spTree>
    <p:extLst>
      <p:ext uri="{BB962C8B-B14F-4D97-AF65-F5344CB8AC3E}">
        <p14:creationId xmlns:p14="http://schemas.microsoft.com/office/powerpoint/2010/main" val="1428165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1911D-7957-299F-4E4F-003E73099652}"/>
            </a:ext>
          </a:extLst>
        </p:cNvPr>
        <p:cNvGrpSpPr/>
        <p:nvPr/>
      </p:nvGrpSpPr>
      <p:grpSpPr>
        <a:xfrm>
          <a:off x="0" y="0"/>
          <a:ext cx="0" cy="0"/>
          <a:chOff x="0" y="0"/>
          <a:chExt cx="0" cy="0"/>
        </a:xfrm>
      </p:grpSpPr>
      <p:grpSp>
        <p:nvGrpSpPr>
          <p:cNvPr id="17" name="Group 17">
            <a:extLst>
              <a:ext uri="{FF2B5EF4-FFF2-40B4-BE49-F238E27FC236}">
                <a16:creationId xmlns:a16="http://schemas.microsoft.com/office/drawing/2014/main" id="{FECE59F1-D8FC-61CA-2CC6-F4B05A8F2F5E}"/>
              </a:ext>
            </a:extLst>
          </p:cNvPr>
          <p:cNvGrpSpPr/>
          <p:nvPr/>
        </p:nvGrpSpPr>
        <p:grpSpPr>
          <a:xfrm>
            <a:off x="-5693364" y="-1721331"/>
            <a:ext cx="28397197" cy="3086100"/>
            <a:chOff x="0" y="0"/>
            <a:chExt cx="7479097" cy="812800"/>
          </a:xfrm>
        </p:grpSpPr>
        <p:sp>
          <p:nvSpPr>
            <p:cNvPr id="18" name="Freeform 18">
              <a:extLst>
                <a:ext uri="{FF2B5EF4-FFF2-40B4-BE49-F238E27FC236}">
                  <a16:creationId xmlns:a16="http://schemas.microsoft.com/office/drawing/2014/main" id="{B4A7A6B4-0730-94B4-05DE-E114EB60A127}"/>
                </a:ext>
              </a:extLst>
            </p:cNvPr>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a:extLst>
                <a:ext uri="{FF2B5EF4-FFF2-40B4-BE49-F238E27FC236}">
                  <a16:creationId xmlns:a16="http://schemas.microsoft.com/office/drawing/2014/main" id="{9780A94D-7845-8CAC-75BC-A5968FEA280A}"/>
                </a:ext>
              </a:extLst>
            </p:cNvPr>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a:extLst>
              <a:ext uri="{FF2B5EF4-FFF2-40B4-BE49-F238E27FC236}">
                <a16:creationId xmlns:a16="http://schemas.microsoft.com/office/drawing/2014/main" id="{0046B281-E72F-92D8-4191-4BD0DAE9B1D7}"/>
              </a:ext>
            </a:extLst>
          </p:cNvPr>
          <p:cNvGrpSpPr/>
          <p:nvPr/>
        </p:nvGrpSpPr>
        <p:grpSpPr>
          <a:xfrm>
            <a:off x="-420562" y="560293"/>
            <a:ext cx="1449262" cy="10671445"/>
            <a:chOff x="0" y="0"/>
            <a:chExt cx="381699" cy="2810586"/>
          </a:xfrm>
        </p:grpSpPr>
        <p:sp>
          <p:nvSpPr>
            <p:cNvPr id="24" name="Freeform 24">
              <a:extLst>
                <a:ext uri="{FF2B5EF4-FFF2-40B4-BE49-F238E27FC236}">
                  <a16:creationId xmlns:a16="http://schemas.microsoft.com/office/drawing/2014/main" id="{6E698F89-FA32-C4C9-E813-4DC175EA3AF6}"/>
                </a:ext>
              </a:extLst>
            </p:cNvPr>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a:extLst>
                <a:ext uri="{FF2B5EF4-FFF2-40B4-BE49-F238E27FC236}">
                  <a16:creationId xmlns:a16="http://schemas.microsoft.com/office/drawing/2014/main" id="{166F652D-01C2-5823-B8DA-F1AC30D0768B}"/>
                </a:ext>
              </a:extLst>
            </p:cNvPr>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B30211E0-EB5A-9467-EA68-CD7C83D3A5F2}"/>
              </a:ext>
            </a:extLst>
          </p:cNvPr>
          <p:cNvGrpSpPr/>
          <p:nvPr/>
        </p:nvGrpSpPr>
        <p:grpSpPr>
          <a:xfrm>
            <a:off x="16118268" y="557525"/>
            <a:ext cx="1141032" cy="471175"/>
            <a:chOff x="0" y="0"/>
            <a:chExt cx="1521375" cy="628233"/>
          </a:xfrm>
        </p:grpSpPr>
        <p:grpSp>
          <p:nvGrpSpPr>
            <p:cNvPr id="30" name="Group 30">
              <a:extLst>
                <a:ext uri="{FF2B5EF4-FFF2-40B4-BE49-F238E27FC236}">
                  <a16:creationId xmlns:a16="http://schemas.microsoft.com/office/drawing/2014/main" id="{2E6D861B-04E2-6C63-3EB6-F5D24B05D239}"/>
                </a:ext>
              </a:extLst>
            </p:cNvPr>
            <p:cNvGrpSpPr/>
            <p:nvPr/>
          </p:nvGrpSpPr>
          <p:grpSpPr>
            <a:xfrm>
              <a:off x="0" y="0"/>
              <a:ext cx="628233" cy="628233"/>
              <a:chOff x="0" y="0"/>
              <a:chExt cx="812800" cy="812800"/>
            </a:xfrm>
          </p:grpSpPr>
          <p:sp>
            <p:nvSpPr>
              <p:cNvPr id="31" name="Freeform 31">
                <a:extLst>
                  <a:ext uri="{FF2B5EF4-FFF2-40B4-BE49-F238E27FC236}">
                    <a16:creationId xmlns:a16="http://schemas.microsoft.com/office/drawing/2014/main" id="{7E4C8F51-AD44-9DFC-B93F-35FC51C53B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a:extLst>
                  <a:ext uri="{FF2B5EF4-FFF2-40B4-BE49-F238E27FC236}">
                    <a16:creationId xmlns:a16="http://schemas.microsoft.com/office/drawing/2014/main" id="{65079F58-AA5B-DDA4-05D4-36DD5D39F6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a:extLst>
                <a:ext uri="{FF2B5EF4-FFF2-40B4-BE49-F238E27FC236}">
                  <a16:creationId xmlns:a16="http://schemas.microsoft.com/office/drawing/2014/main" id="{F6ED3969-414F-52D3-853F-509074EBE0C1}"/>
                </a:ext>
              </a:extLst>
            </p:cNvPr>
            <p:cNvGrpSpPr/>
            <p:nvPr/>
          </p:nvGrpSpPr>
          <p:grpSpPr>
            <a:xfrm>
              <a:off x="297714" y="0"/>
              <a:ext cx="628233" cy="628233"/>
              <a:chOff x="0" y="0"/>
              <a:chExt cx="812800" cy="812800"/>
            </a:xfrm>
          </p:grpSpPr>
          <p:sp>
            <p:nvSpPr>
              <p:cNvPr id="34" name="Freeform 34">
                <a:extLst>
                  <a:ext uri="{FF2B5EF4-FFF2-40B4-BE49-F238E27FC236}">
                    <a16:creationId xmlns:a16="http://schemas.microsoft.com/office/drawing/2014/main" id="{C49E13AB-CDC7-B924-04D4-927108EDDC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a:extLst>
                  <a:ext uri="{FF2B5EF4-FFF2-40B4-BE49-F238E27FC236}">
                    <a16:creationId xmlns:a16="http://schemas.microsoft.com/office/drawing/2014/main" id="{B95C4C1F-0E86-8B78-F0FC-C9557F957F8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a:extLst>
                <a:ext uri="{FF2B5EF4-FFF2-40B4-BE49-F238E27FC236}">
                  <a16:creationId xmlns:a16="http://schemas.microsoft.com/office/drawing/2014/main" id="{E08F981C-B8E0-A359-81EA-7918BAAF732E}"/>
                </a:ext>
              </a:extLst>
            </p:cNvPr>
            <p:cNvGrpSpPr/>
            <p:nvPr/>
          </p:nvGrpSpPr>
          <p:grpSpPr>
            <a:xfrm>
              <a:off x="595428" y="0"/>
              <a:ext cx="628233" cy="628233"/>
              <a:chOff x="0" y="0"/>
              <a:chExt cx="812800" cy="812800"/>
            </a:xfrm>
          </p:grpSpPr>
          <p:sp>
            <p:nvSpPr>
              <p:cNvPr id="37" name="Freeform 37">
                <a:extLst>
                  <a:ext uri="{FF2B5EF4-FFF2-40B4-BE49-F238E27FC236}">
                    <a16:creationId xmlns:a16="http://schemas.microsoft.com/office/drawing/2014/main" id="{76E14119-11FF-17E1-35CC-82A3890BA4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a:extLst>
                  <a:ext uri="{FF2B5EF4-FFF2-40B4-BE49-F238E27FC236}">
                    <a16:creationId xmlns:a16="http://schemas.microsoft.com/office/drawing/2014/main" id="{E467BAA8-1602-01FE-133B-802B87F8BDC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a:extLst>
                <a:ext uri="{FF2B5EF4-FFF2-40B4-BE49-F238E27FC236}">
                  <a16:creationId xmlns:a16="http://schemas.microsoft.com/office/drawing/2014/main" id="{3E853339-7052-9443-6625-B0276FA6DF02}"/>
                </a:ext>
              </a:extLst>
            </p:cNvPr>
            <p:cNvGrpSpPr/>
            <p:nvPr/>
          </p:nvGrpSpPr>
          <p:grpSpPr>
            <a:xfrm>
              <a:off x="893143" y="0"/>
              <a:ext cx="628233" cy="628233"/>
              <a:chOff x="0" y="0"/>
              <a:chExt cx="812800" cy="812800"/>
            </a:xfrm>
          </p:grpSpPr>
          <p:sp>
            <p:nvSpPr>
              <p:cNvPr id="40" name="Freeform 40">
                <a:extLst>
                  <a:ext uri="{FF2B5EF4-FFF2-40B4-BE49-F238E27FC236}">
                    <a16:creationId xmlns:a16="http://schemas.microsoft.com/office/drawing/2014/main" id="{011E214F-2918-DAF8-4D56-38ED4D9318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a:extLst>
                  <a:ext uri="{FF2B5EF4-FFF2-40B4-BE49-F238E27FC236}">
                    <a16:creationId xmlns:a16="http://schemas.microsoft.com/office/drawing/2014/main" id="{D60262F5-2FB4-AB2C-5BEB-61792757459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a:extLst>
              <a:ext uri="{FF2B5EF4-FFF2-40B4-BE49-F238E27FC236}">
                <a16:creationId xmlns:a16="http://schemas.microsoft.com/office/drawing/2014/main" id="{03FAD9FF-9D78-687E-831E-D6F4409AF833}"/>
              </a:ext>
            </a:extLst>
          </p:cNvPr>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C144E1EB-1C39-CD39-D20B-26FF8ADD8A51}"/>
              </a:ext>
            </a:extLst>
          </p:cNvPr>
          <p:cNvSpPr txBox="1">
            <a:spLocks/>
          </p:cNvSpPr>
          <p:nvPr/>
        </p:nvSpPr>
        <p:spPr>
          <a:xfrm>
            <a:off x="677334" y="1425388"/>
            <a:ext cx="8596668" cy="70709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dirty="0"/>
              <a:t>Remerciement Dieu tout puissant</a:t>
            </a:r>
          </a:p>
          <a:p>
            <a:r>
              <a:rPr lang="fr-FR" b="1" dirty="0"/>
              <a:t>Monsieur HAJALALAINA Aimé Richard</a:t>
            </a:r>
            <a:r>
              <a:rPr lang="fr-FR" dirty="0"/>
              <a:t>, Président de l’Université de Fianarantsoa</a:t>
            </a:r>
          </a:p>
          <a:p>
            <a:r>
              <a:rPr lang="fr-FR" b="1" dirty="0"/>
              <a:t>Monsieur MAHATODY Thomas</a:t>
            </a:r>
            <a:r>
              <a:rPr lang="fr-FR" dirty="0"/>
              <a:t>, Directeur de l’ENI</a:t>
            </a:r>
          </a:p>
          <a:p>
            <a:r>
              <a:rPr lang="fr-MG" b="1" dirty="0"/>
              <a:t>Monsieur RASENDRALAHY Yvon Joël</a:t>
            </a:r>
            <a:r>
              <a:rPr lang="fr-MG" dirty="0"/>
              <a:t>, Directeur exécutif de la société FUNTOA SMIE</a:t>
            </a:r>
          </a:p>
        </p:txBody>
      </p:sp>
    </p:spTree>
    <p:extLst>
      <p:ext uri="{BB962C8B-B14F-4D97-AF65-F5344CB8AC3E}">
        <p14:creationId xmlns:p14="http://schemas.microsoft.com/office/powerpoint/2010/main" val="1499421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BCB1-290F-ADDF-93D7-8CE23C3E6E88}"/>
            </a:ext>
          </a:extLst>
        </p:cNvPr>
        <p:cNvGrpSpPr/>
        <p:nvPr/>
      </p:nvGrpSpPr>
      <p:grpSpPr>
        <a:xfrm>
          <a:off x="0" y="0"/>
          <a:ext cx="0" cy="0"/>
          <a:chOff x="0" y="0"/>
          <a:chExt cx="0" cy="0"/>
        </a:xfrm>
      </p:grpSpPr>
      <p:grpSp>
        <p:nvGrpSpPr>
          <p:cNvPr id="17" name="Group 17">
            <a:extLst>
              <a:ext uri="{FF2B5EF4-FFF2-40B4-BE49-F238E27FC236}">
                <a16:creationId xmlns:a16="http://schemas.microsoft.com/office/drawing/2014/main" id="{61377315-F579-3E45-FD9B-187CD6D44859}"/>
              </a:ext>
            </a:extLst>
          </p:cNvPr>
          <p:cNvGrpSpPr/>
          <p:nvPr/>
        </p:nvGrpSpPr>
        <p:grpSpPr>
          <a:xfrm>
            <a:off x="-5693364" y="-1721331"/>
            <a:ext cx="28397197" cy="3086100"/>
            <a:chOff x="0" y="0"/>
            <a:chExt cx="7479097" cy="812800"/>
          </a:xfrm>
        </p:grpSpPr>
        <p:sp>
          <p:nvSpPr>
            <p:cNvPr id="18" name="Freeform 18">
              <a:extLst>
                <a:ext uri="{FF2B5EF4-FFF2-40B4-BE49-F238E27FC236}">
                  <a16:creationId xmlns:a16="http://schemas.microsoft.com/office/drawing/2014/main" id="{11D2BCE9-D7BE-89D2-F382-49E11E18B716}"/>
                </a:ext>
              </a:extLst>
            </p:cNvPr>
            <p:cNvSpPr/>
            <p:nvPr/>
          </p:nvSpPr>
          <p:spPr>
            <a:xfrm>
              <a:off x="0" y="0"/>
              <a:ext cx="7479097" cy="812800"/>
            </a:xfrm>
            <a:custGeom>
              <a:avLst/>
              <a:gdLst/>
              <a:ahLst/>
              <a:cxnLst/>
              <a:rect l="l" t="t" r="r" b="b"/>
              <a:pathLst>
                <a:path w="7479097" h="812800">
                  <a:moveTo>
                    <a:pt x="0" y="0"/>
                  </a:moveTo>
                  <a:lnTo>
                    <a:pt x="7479097" y="0"/>
                  </a:lnTo>
                  <a:lnTo>
                    <a:pt x="7479097" y="812800"/>
                  </a:lnTo>
                  <a:lnTo>
                    <a:pt x="0" y="812800"/>
                  </a:lnTo>
                  <a:close/>
                </a:path>
              </a:pathLst>
            </a:custGeom>
            <a:solidFill>
              <a:srgbClr val="FFFFFF"/>
            </a:solidFill>
          </p:spPr>
        </p:sp>
        <p:sp>
          <p:nvSpPr>
            <p:cNvPr id="19" name="TextBox 19">
              <a:extLst>
                <a:ext uri="{FF2B5EF4-FFF2-40B4-BE49-F238E27FC236}">
                  <a16:creationId xmlns:a16="http://schemas.microsoft.com/office/drawing/2014/main" id="{719114CE-10E6-1DAF-E2D3-69DBD7B3B322}"/>
                </a:ext>
              </a:extLst>
            </p:cNvPr>
            <p:cNvSpPr txBox="1"/>
            <p:nvPr/>
          </p:nvSpPr>
          <p:spPr>
            <a:xfrm>
              <a:off x="0" y="-38100"/>
              <a:ext cx="7479097" cy="8509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3" name="Group 23">
            <a:extLst>
              <a:ext uri="{FF2B5EF4-FFF2-40B4-BE49-F238E27FC236}">
                <a16:creationId xmlns:a16="http://schemas.microsoft.com/office/drawing/2014/main" id="{1F27E86F-5F81-69C7-FC8B-14539F32CA37}"/>
              </a:ext>
            </a:extLst>
          </p:cNvPr>
          <p:cNvGrpSpPr/>
          <p:nvPr/>
        </p:nvGrpSpPr>
        <p:grpSpPr>
          <a:xfrm>
            <a:off x="-420562" y="560293"/>
            <a:ext cx="1449262" cy="10671445"/>
            <a:chOff x="0" y="0"/>
            <a:chExt cx="381699" cy="2810586"/>
          </a:xfrm>
        </p:grpSpPr>
        <p:sp>
          <p:nvSpPr>
            <p:cNvPr id="24" name="Freeform 24">
              <a:extLst>
                <a:ext uri="{FF2B5EF4-FFF2-40B4-BE49-F238E27FC236}">
                  <a16:creationId xmlns:a16="http://schemas.microsoft.com/office/drawing/2014/main" id="{FC45AB3D-2F89-A0B1-1F52-7EC565AD4573}"/>
                </a:ext>
              </a:extLst>
            </p:cNvPr>
            <p:cNvSpPr/>
            <p:nvPr/>
          </p:nvSpPr>
          <p:spPr>
            <a:xfrm>
              <a:off x="0" y="0"/>
              <a:ext cx="381699" cy="2810586"/>
            </a:xfrm>
            <a:custGeom>
              <a:avLst/>
              <a:gdLst/>
              <a:ahLst/>
              <a:cxnLst/>
              <a:rect l="l" t="t" r="r" b="b"/>
              <a:pathLst>
                <a:path w="381699" h="2810586">
                  <a:moveTo>
                    <a:pt x="0" y="0"/>
                  </a:moveTo>
                  <a:lnTo>
                    <a:pt x="381699" y="0"/>
                  </a:lnTo>
                  <a:lnTo>
                    <a:pt x="381699" y="2810586"/>
                  </a:lnTo>
                  <a:lnTo>
                    <a:pt x="0" y="2810586"/>
                  </a:lnTo>
                  <a:close/>
                </a:path>
              </a:pathLst>
            </a:custGeom>
            <a:solidFill>
              <a:srgbClr val="FFFFFF"/>
            </a:solidFill>
          </p:spPr>
        </p:sp>
        <p:sp>
          <p:nvSpPr>
            <p:cNvPr id="25" name="TextBox 25">
              <a:extLst>
                <a:ext uri="{FF2B5EF4-FFF2-40B4-BE49-F238E27FC236}">
                  <a16:creationId xmlns:a16="http://schemas.microsoft.com/office/drawing/2014/main" id="{D0253247-254B-6300-2842-3DF65B9FF602}"/>
                </a:ext>
              </a:extLst>
            </p:cNvPr>
            <p:cNvSpPr txBox="1"/>
            <p:nvPr/>
          </p:nvSpPr>
          <p:spPr>
            <a:xfrm>
              <a:off x="0" y="-38100"/>
              <a:ext cx="381699" cy="2848686"/>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B419D781-6E0C-652D-A380-98699A9155F5}"/>
              </a:ext>
            </a:extLst>
          </p:cNvPr>
          <p:cNvGrpSpPr/>
          <p:nvPr/>
        </p:nvGrpSpPr>
        <p:grpSpPr>
          <a:xfrm>
            <a:off x="16118268" y="557525"/>
            <a:ext cx="1141032" cy="471175"/>
            <a:chOff x="0" y="0"/>
            <a:chExt cx="1521375" cy="628233"/>
          </a:xfrm>
        </p:grpSpPr>
        <p:grpSp>
          <p:nvGrpSpPr>
            <p:cNvPr id="30" name="Group 30">
              <a:extLst>
                <a:ext uri="{FF2B5EF4-FFF2-40B4-BE49-F238E27FC236}">
                  <a16:creationId xmlns:a16="http://schemas.microsoft.com/office/drawing/2014/main" id="{F7DDE648-2110-8EF7-3F7A-C927DB64D47A}"/>
                </a:ext>
              </a:extLst>
            </p:cNvPr>
            <p:cNvGrpSpPr/>
            <p:nvPr/>
          </p:nvGrpSpPr>
          <p:grpSpPr>
            <a:xfrm>
              <a:off x="0" y="0"/>
              <a:ext cx="628233" cy="628233"/>
              <a:chOff x="0" y="0"/>
              <a:chExt cx="812800" cy="812800"/>
            </a:xfrm>
          </p:grpSpPr>
          <p:sp>
            <p:nvSpPr>
              <p:cNvPr id="31" name="Freeform 31">
                <a:extLst>
                  <a:ext uri="{FF2B5EF4-FFF2-40B4-BE49-F238E27FC236}">
                    <a16:creationId xmlns:a16="http://schemas.microsoft.com/office/drawing/2014/main" id="{CEA99590-5D97-8095-399D-5A8FD0CF1E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5000"/>
                    </a:srgbClr>
                  </a:gs>
                  <a:gs pos="100000">
                    <a:srgbClr val="2932FF">
                      <a:alpha val="15000"/>
                    </a:srgbClr>
                  </a:gs>
                </a:gsLst>
                <a:lin ang="0"/>
              </a:gradFill>
            </p:spPr>
          </p:sp>
          <p:sp>
            <p:nvSpPr>
              <p:cNvPr id="32" name="TextBox 32">
                <a:extLst>
                  <a:ext uri="{FF2B5EF4-FFF2-40B4-BE49-F238E27FC236}">
                    <a16:creationId xmlns:a16="http://schemas.microsoft.com/office/drawing/2014/main" id="{3FE17EEF-25F1-C208-6E3B-3FED28D5BCF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3" name="Group 33">
              <a:extLst>
                <a:ext uri="{FF2B5EF4-FFF2-40B4-BE49-F238E27FC236}">
                  <a16:creationId xmlns:a16="http://schemas.microsoft.com/office/drawing/2014/main" id="{D9176B67-8107-2418-2FBD-4FC32F87BD18}"/>
                </a:ext>
              </a:extLst>
            </p:cNvPr>
            <p:cNvGrpSpPr/>
            <p:nvPr/>
          </p:nvGrpSpPr>
          <p:grpSpPr>
            <a:xfrm>
              <a:off x="297714" y="0"/>
              <a:ext cx="628233" cy="628233"/>
              <a:chOff x="0" y="0"/>
              <a:chExt cx="812800" cy="812800"/>
            </a:xfrm>
          </p:grpSpPr>
          <p:sp>
            <p:nvSpPr>
              <p:cNvPr id="34" name="Freeform 34">
                <a:extLst>
                  <a:ext uri="{FF2B5EF4-FFF2-40B4-BE49-F238E27FC236}">
                    <a16:creationId xmlns:a16="http://schemas.microsoft.com/office/drawing/2014/main" id="{6A0DFD15-5A24-5BE5-8292-9752DA03A5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50000"/>
                    </a:srgbClr>
                  </a:gs>
                  <a:gs pos="100000">
                    <a:srgbClr val="2932FF">
                      <a:alpha val="50000"/>
                    </a:srgbClr>
                  </a:gs>
                </a:gsLst>
                <a:lin ang="0"/>
              </a:gradFill>
            </p:spPr>
          </p:sp>
          <p:sp>
            <p:nvSpPr>
              <p:cNvPr id="35" name="TextBox 35">
                <a:extLst>
                  <a:ext uri="{FF2B5EF4-FFF2-40B4-BE49-F238E27FC236}">
                    <a16:creationId xmlns:a16="http://schemas.microsoft.com/office/drawing/2014/main" id="{0A8BDF55-3C74-8267-7340-F2E7313D6BB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6" name="Group 36">
              <a:extLst>
                <a:ext uri="{FF2B5EF4-FFF2-40B4-BE49-F238E27FC236}">
                  <a16:creationId xmlns:a16="http://schemas.microsoft.com/office/drawing/2014/main" id="{7D53F7FB-0907-07C9-249A-766F1CDF6AAF}"/>
                </a:ext>
              </a:extLst>
            </p:cNvPr>
            <p:cNvGrpSpPr/>
            <p:nvPr/>
          </p:nvGrpSpPr>
          <p:grpSpPr>
            <a:xfrm>
              <a:off x="595428" y="0"/>
              <a:ext cx="628233" cy="628233"/>
              <a:chOff x="0" y="0"/>
              <a:chExt cx="812800" cy="812800"/>
            </a:xfrm>
          </p:grpSpPr>
          <p:sp>
            <p:nvSpPr>
              <p:cNvPr id="37" name="Freeform 37">
                <a:extLst>
                  <a:ext uri="{FF2B5EF4-FFF2-40B4-BE49-F238E27FC236}">
                    <a16:creationId xmlns:a16="http://schemas.microsoft.com/office/drawing/2014/main" id="{C62DEBDF-DBCE-8B79-161A-0309CC45BF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75000"/>
                    </a:srgbClr>
                  </a:gs>
                  <a:gs pos="100000">
                    <a:srgbClr val="2932FF">
                      <a:alpha val="75000"/>
                    </a:srgbClr>
                  </a:gs>
                </a:gsLst>
                <a:lin ang="0"/>
              </a:gradFill>
            </p:spPr>
          </p:sp>
          <p:sp>
            <p:nvSpPr>
              <p:cNvPr id="38" name="TextBox 38">
                <a:extLst>
                  <a:ext uri="{FF2B5EF4-FFF2-40B4-BE49-F238E27FC236}">
                    <a16:creationId xmlns:a16="http://schemas.microsoft.com/office/drawing/2014/main" id="{97F57712-91B6-32BC-EF8D-A57BD0A9B60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39" name="Group 39">
              <a:extLst>
                <a:ext uri="{FF2B5EF4-FFF2-40B4-BE49-F238E27FC236}">
                  <a16:creationId xmlns:a16="http://schemas.microsoft.com/office/drawing/2014/main" id="{9E193AF8-45FE-504F-23E2-DA321CD24BC6}"/>
                </a:ext>
              </a:extLst>
            </p:cNvPr>
            <p:cNvGrpSpPr/>
            <p:nvPr/>
          </p:nvGrpSpPr>
          <p:grpSpPr>
            <a:xfrm>
              <a:off x="893143" y="0"/>
              <a:ext cx="628233" cy="628233"/>
              <a:chOff x="0" y="0"/>
              <a:chExt cx="812800" cy="812800"/>
            </a:xfrm>
          </p:grpSpPr>
          <p:sp>
            <p:nvSpPr>
              <p:cNvPr id="40" name="Freeform 40">
                <a:extLst>
                  <a:ext uri="{FF2B5EF4-FFF2-40B4-BE49-F238E27FC236}">
                    <a16:creationId xmlns:a16="http://schemas.microsoft.com/office/drawing/2014/main" id="{E68E4F30-3D1E-DEFE-DAC0-E4072BC99A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41" name="TextBox 41">
                <a:extLst>
                  <a:ext uri="{FF2B5EF4-FFF2-40B4-BE49-F238E27FC236}">
                    <a16:creationId xmlns:a16="http://schemas.microsoft.com/office/drawing/2014/main" id="{4D861E37-50FC-E01C-3EA1-8A29F3CD79A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sp>
        <p:nvSpPr>
          <p:cNvPr id="42" name="TextBox 42">
            <a:extLst>
              <a:ext uri="{FF2B5EF4-FFF2-40B4-BE49-F238E27FC236}">
                <a16:creationId xmlns:a16="http://schemas.microsoft.com/office/drawing/2014/main" id="{3AA3E8A5-5878-DB1B-0201-D40607CC6D23}"/>
              </a:ext>
            </a:extLst>
          </p:cNvPr>
          <p:cNvSpPr txBox="1"/>
          <p:nvPr/>
        </p:nvSpPr>
        <p:spPr>
          <a:xfrm>
            <a:off x="1028700" y="480482"/>
            <a:ext cx="3868111" cy="518347"/>
          </a:xfrm>
          <a:prstGeom prst="rect">
            <a:avLst/>
          </a:prstGeom>
        </p:spPr>
        <p:txBody>
          <a:bodyPr lIns="0" tIns="0" rIns="0" bIns="0" rtlCol="0" anchor="t">
            <a:spAutoFit/>
          </a:bodyPr>
          <a:lstStyle/>
          <a:p>
            <a:pPr algn="l">
              <a:lnSpc>
                <a:spcPts val="4433"/>
              </a:lnSpc>
            </a:pPr>
            <a:r>
              <a:rPr lang="en-US" sz="3166"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REMERCIEMENT</a:t>
            </a:r>
          </a:p>
        </p:txBody>
      </p:sp>
      <p:sp>
        <p:nvSpPr>
          <p:cNvPr id="79" name="Espace réservé du contenu 2">
            <a:extLst>
              <a:ext uri="{FF2B5EF4-FFF2-40B4-BE49-F238E27FC236}">
                <a16:creationId xmlns:a16="http://schemas.microsoft.com/office/drawing/2014/main" id="{17F2C6A2-9437-AB53-D03E-9E287B7F718F}"/>
              </a:ext>
            </a:extLst>
          </p:cNvPr>
          <p:cNvSpPr txBox="1">
            <a:spLocks/>
          </p:cNvSpPr>
          <p:nvPr/>
        </p:nvSpPr>
        <p:spPr>
          <a:xfrm>
            <a:off x="677334" y="1425388"/>
            <a:ext cx="8596668" cy="707091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b="1" dirty="0"/>
              <a:t>Remerciement Dieu tout puissant</a:t>
            </a:r>
          </a:p>
          <a:p>
            <a:r>
              <a:rPr lang="fr-FR" b="1" dirty="0"/>
              <a:t>Monsieur HAJALALAINA Aimé Richard</a:t>
            </a:r>
            <a:r>
              <a:rPr lang="fr-FR" dirty="0"/>
              <a:t>, Président de l’Université de Fianarantsoa</a:t>
            </a:r>
          </a:p>
          <a:p>
            <a:r>
              <a:rPr lang="fr-FR" b="1" dirty="0"/>
              <a:t>Monsieur MAHATODY Thomas</a:t>
            </a:r>
            <a:r>
              <a:rPr lang="fr-FR" dirty="0"/>
              <a:t>, Directeur de l’ENI</a:t>
            </a:r>
          </a:p>
          <a:p>
            <a:r>
              <a:rPr lang="fr-MG" b="1" dirty="0"/>
              <a:t>Monsieur RASENDRALAHY Yvon Joël</a:t>
            </a:r>
            <a:r>
              <a:rPr lang="fr-MG" dirty="0"/>
              <a:t>, Directeur exécutif de la société FUNTOA SMIE</a:t>
            </a:r>
          </a:p>
          <a:p>
            <a:r>
              <a:rPr lang="fr-FR" b="1" dirty="0"/>
              <a:t>Professeur RAFAMANTANATSOA </a:t>
            </a:r>
            <a:r>
              <a:rPr lang="fr-FR" dirty="0"/>
              <a:t>Fontaine</a:t>
            </a:r>
            <a:endParaRPr lang="fr-FR" b="1" dirty="0"/>
          </a:p>
          <a:p>
            <a:r>
              <a:rPr lang="fr-FR" b="1" dirty="0"/>
              <a:t>Monsieur</a:t>
            </a:r>
            <a:r>
              <a:rPr lang="fr-FR" dirty="0"/>
              <a:t> </a:t>
            </a:r>
            <a:r>
              <a:rPr lang="fr-FR" b="1" dirty="0"/>
              <a:t>RANDRIANOMENJANAHARY</a:t>
            </a:r>
            <a:r>
              <a:rPr lang="fr-FR" dirty="0"/>
              <a:t> Lala Ferdinand, Maître de Conférences</a:t>
            </a:r>
          </a:p>
          <a:p>
            <a:r>
              <a:rPr lang="fr-FR" b="1" dirty="0"/>
              <a:t>Monsieur</a:t>
            </a:r>
            <a:r>
              <a:rPr lang="fr-FR" dirty="0"/>
              <a:t> </a:t>
            </a:r>
            <a:r>
              <a:rPr lang="fr-FR" b="1" dirty="0"/>
              <a:t>RAZAFINDRAMONJA</a:t>
            </a:r>
            <a:r>
              <a:rPr lang="fr-FR" dirty="0"/>
              <a:t> Clément Aubert, Assistant d’Enseignement Supérieur et de Recherche</a:t>
            </a:r>
          </a:p>
        </p:txBody>
      </p:sp>
    </p:spTree>
    <p:extLst>
      <p:ext uri="{BB962C8B-B14F-4D97-AF65-F5344CB8AC3E}">
        <p14:creationId xmlns:p14="http://schemas.microsoft.com/office/powerpoint/2010/main" val="922979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018A-BEDE-7213-8F82-0EA3BBD594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AC0BD7D-6AFB-6F63-D5A7-028508A57885}"/>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5DBC9F5F-390C-DFE9-594C-7F87E854F0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A5AEBFEA-13D7-D1A0-9E8F-96CC5C32CCF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59D4EDCC-874A-0C32-0D44-97F1DF3F35BC}"/>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B30E50D7-830E-41EC-500C-65012C5C64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5B5966CA-E916-BE77-CBF3-430D23A8CB2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03BFD9FC-6DDB-F266-53BE-BCF4FF9CC881}"/>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4FCF89CA-4533-945E-102E-A828D12571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8547D7DA-9E8C-41B0-7455-BA007097713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C0640341-DB69-E48D-026B-9FBB7E5F4C9C}"/>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63DE4BFD-8DED-2907-9CA9-25D03E772D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0E289065-D5E6-CB41-AE7D-720D7B6480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225F5DA7-4A8E-7487-D671-63FFFF08AAB8}"/>
              </a:ext>
            </a:extLst>
          </p:cNvPr>
          <p:cNvSpPr>
            <a:spLocks noGrp="1"/>
          </p:cNvSpPr>
          <p:nvPr/>
        </p:nvSpPr>
        <p:spPr>
          <a:xfrm>
            <a:off x="6408810" y="1030357"/>
            <a:ext cx="7239000"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INTRODUCTION</a:t>
            </a:r>
          </a:p>
        </p:txBody>
      </p:sp>
      <p:sp>
        <p:nvSpPr>
          <p:cNvPr id="22" name="PlaceHolder 2">
            <a:extLst>
              <a:ext uri="{FF2B5EF4-FFF2-40B4-BE49-F238E27FC236}">
                <a16:creationId xmlns:a16="http://schemas.microsoft.com/office/drawing/2014/main" id="{55C4AF78-ADDF-845A-EB19-55B741CE6B0B}"/>
              </a:ext>
            </a:extLst>
          </p:cNvPr>
          <p:cNvSpPr txBox="1">
            <a:spLocks/>
          </p:cNvSpPr>
          <p:nvPr/>
        </p:nvSpPr>
        <p:spPr>
          <a:xfrm>
            <a:off x="4210657" y="1866899"/>
            <a:ext cx="9437153" cy="6475329"/>
          </a:xfrm>
          <a:prstGeom prst="rect">
            <a:avLst/>
          </a:prstGeom>
          <a:noFill/>
          <a:ln w="0">
            <a:noFill/>
          </a:ln>
        </p:spPr>
        <p:txBody>
          <a:bodyPr lIns="91440" tIns="91440" rIns="91440" bIns="91440"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fr-FR" dirty="0">
                <a:latin typeface="Times New Roman" panose="02020603050405020304" pitchFamily="18" charset="0"/>
                <a:cs typeface="Times New Roman" panose="02020603050405020304" pitchFamily="18" charset="0"/>
              </a:rPr>
              <a:t>	Ce mémoire présente la modernisation du système applicatif du SMIE à travers la conception et la mise en œuvre d’une architecture DevOps basée sur une chaîne CI/CD automatisée (GitHub Actions, Docker et VPS), démontrant comment ces outils améliorent l’efficacité, la qualité logicielle et la performance opérationnelle du système d’information.</a:t>
            </a:r>
          </a:p>
        </p:txBody>
      </p:sp>
    </p:spTree>
    <p:extLst>
      <p:ext uri="{BB962C8B-B14F-4D97-AF65-F5344CB8AC3E}">
        <p14:creationId xmlns:p14="http://schemas.microsoft.com/office/powerpoint/2010/main" val="3302184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688DC-7311-DEEF-08BF-D9AF62E333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0C23C5-0FC8-A801-5090-3DE1D8AB498C}"/>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C4D647D0-FFE4-8D73-70C2-C434817EBB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61C24E6E-DF07-2B65-A958-1BB241B06EC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B94BEB30-C2D0-025F-F835-AB1ECF1EA3AD}"/>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2AD69D88-D12B-E2E2-3014-90CD86A0F4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176F3D69-5540-6BC3-08CB-7ECF694A289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78534DBC-AB43-A13D-E606-BD2A151585DF}"/>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ADF11BB4-1167-E527-F122-9E6E59A03E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FDE8E985-E868-177C-C59B-D49E5888E65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F2CA234D-1D14-CD5B-FF92-680906C09B83}"/>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B0CBC958-D24B-5AF9-5EC4-096BD5F53F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ABC7BF49-49FC-973F-7808-4E23E63AFC0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8C8960AA-A35B-A4AF-51C1-A2BE97159876}"/>
              </a:ext>
            </a:extLst>
          </p:cNvPr>
          <p:cNvSpPr>
            <a:spLocks noGrp="1"/>
          </p:cNvSpPr>
          <p:nvPr/>
        </p:nvSpPr>
        <p:spPr>
          <a:xfrm>
            <a:off x="4943841" y="1409700"/>
            <a:ext cx="8637592"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ELABORATION DES PLANS</a:t>
            </a:r>
          </a:p>
        </p:txBody>
      </p:sp>
      <p:sp>
        <p:nvSpPr>
          <p:cNvPr id="18" name="Espace réservé du contenu 2">
            <a:extLst>
              <a:ext uri="{FF2B5EF4-FFF2-40B4-BE49-F238E27FC236}">
                <a16:creationId xmlns:a16="http://schemas.microsoft.com/office/drawing/2014/main" id="{2864F247-AE78-AB2B-9A49-AD196F7FC8B3}"/>
              </a:ext>
            </a:extLst>
          </p:cNvPr>
          <p:cNvSpPr txBox="1">
            <a:spLocks/>
          </p:cNvSpPr>
          <p:nvPr/>
        </p:nvSpPr>
        <p:spPr>
          <a:xfrm>
            <a:off x="5442800" y="3379313"/>
            <a:ext cx="8596668" cy="500585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fr-FR" dirty="0"/>
          </a:p>
        </p:txBody>
      </p:sp>
    </p:spTree>
    <p:extLst>
      <p:ext uri="{BB962C8B-B14F-4D97-AF65-F5344CB8AC3E}">
        <p14:creationId xmlns:p14="http://schemas.microsoft.com/office/powerpoint/2010/main" val="3323926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95DFB-C3A4-4541-F7CF-DDE7658924B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641FB5-0173-DD3E-79C3-77611879A99C}"/>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CC047629-A54E-F463-34E4-15032A7E6B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548F5E71-C197-E238-EC52-52AE0F7DFF4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1E2EFBC2-2F42-BF8F-7BEC-5C3ECBF39883}"/>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C2D59786-A8E3-8E66-54D0-763CCAA6CD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9BAD9653-C876-0293-E159-F912B7B455A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0C7E81FA-C82B-00E1-6ADD-B86271F547D3}"/>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F12640A0-4310-E4AC-418E-C09A8C2973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7B0E35C3-AE6D-98C8-53B6-E1C90A696F6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46D61EC2-6D57-C03A-57CE-F46381A6E012}"/>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6A511581-83CD-BBF0-CB32-3AAFCA6FE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E06B832B-55A4-A425-928C-656CC9C310D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AC885A7A-DBCF-41FC-0505-734E6FD72034}"/>
              </a:ext>
            </a:extLst>
          </p:cNvPr>
          <p:cNvSpPr>
            <a:spLocks noGrp="1"/>
          </p:cNvSpPr>
          <p:nvPr/>
        </p:nvSpPr>
        <p:spPr>
          <a:xfrm>
            <a:off x="4943841" y="1409700"/>
            <a:ext cx="8637592"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ELABORATION DES PLANS</a:t>
            </a:r>
          </a:p>
        </p:txBody>
      </p:sp>
      <p:sp>
        <p:nvSpPr>
          <p:cNvPr id="18" name="Espace réservé du contenu 2">
            <a:extLst>
              <a:ext uri="{FF2B5EF4-FFF2-40B4-BE49-F238E27FC236}">
                <a16:creationId xmlns:a16="http://schemas.microsoft.com/office/drawing/2014/main" id="{E7D780E9-0483-2874-83E7-42FCBDC83AB4}"/>
              </a:ext>
            </a:extLst>
          </p:cNvPr>
          <p:cNvSpPr txBox="1">
            <a:spLocks/>
          </p:cNvSpPr>
          <p:nvPr/>
        </p:nvSpPr>
        <p:spPr>
          <a:xfrm>
            <a:off x="5442800" y="3379313"/>
            <a:ext cx="8596668" cy="500585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Présentation Générale</a:t>
            </a:r>
          </a:p>
          <a:p>
            <a:pPr marL="0" indent="0">
              <a:buNone/>
            </a:pPr>
            <a:endParaRPr lang="fr-FR" dirty="0"/>
          </a:p>
        </p:txBody>
      </p:sp>
    </p:spTree>
    <p:extLst>
      <p:ext uri="{BB962C8B-B14F-4D97-AF65-F5344CB8AC3E}">
        <p14:creationId xmlns:p14="http://schemas.microsoft.com/office/powerpoint/2010/main" val="2745769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C5550-2732-467D-2BB5-7AD580DBB6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481A3B-1650-9FF1-98C8-ACFFCA10975C}"/>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705CBF50-C79C-E325-2741-34413E416E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DCE4CAA3-905C-2F4D-43CA-14ACDC339E7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F9DA2558-6C53-3171-7256-F0E1EA927369}"/>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38BB8D33-347B-BE67-D244-459F01A9AD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CC26F40B-D2E8-A830-F5D1-7E84A16B3DD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A69083B9-241A-3EB8-2B67-CF907D6FA714}"/>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1861935D-5076-3B62-0EDC-A370C747EF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0CC29C30-95F2-AD51-90D2-910A23DC899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1EEEE1BF-B61B-B79D-3D91-D88A703A71CA}"/>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73D7C8EF-F592-7B39-779B-E632D02E45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F59EB131-AE58-4070-6CC9-BBC9B38F18E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F717F327-3A78-343C-04AF-8127ADCB4786}"/>
              </a:ext>
            </a:extLst>
          </p:cNvPr>
          <p:cNvSpPr>
            <a:spLocks noGrp="1"/>
          </p:cNvSpPr>
          <p:nvPr/>
        </p:nvSpPr>
        <p:spPr>
          <a:xfrm>
            <a:off x="4943841" y="1409700"/>
            <a:ext cx="8637592"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ELABORATION DES PLANS</a:t>
            </a:r>
          </a:p>
        </p:txBody>
      </p:sp>
      <p:sp>
        <p:nvSpPr>
          <p:cNvPr id="18" name="Espace réservé du contenu 2">
            <a:extLst>
              <a:ext uri="{FF2B5EF4-FFF2-40B4-BE49-F238E27FC236}">
                <a16:creationId xmlns:a16="http://schemas.microsoft.com/office/drawing/2014/main" id="{CB2E76AA-919C-1469-4FF9-F73169E1CF5D}"/>
              </a:ext>
            </a:extLst>
          </p:cNvPr>
          <p:cNvSpPr txBox="1">
            <a:spLocks/>
          </p:cNvSpPr>
          <p:nvPr/>
        </p:nvSpPr>
        <p:spPr>
          <a:xfrm>
            <a:off x="5442800" y="3379313"/>
            <a:ext cx="8596668" cy="500585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Présentation Générale</a:t>
            </a:r>
          </a:p>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Analyse et choix des outils</a:t>
            </a:r>
          </a:p>
          <a:p>
            <a:pPr marL="0" indent="0">
              <a:buNone/>
            </a:pPr>
            <a:endParaRPr lang="fr-FR" dirty="0"/>
          </a:p>
        </p:txBody>
      </p:sp>
    </p:spTree>
    <p:extLst>
      <p:ext uri="{BB962C8B-B14F-4D97-AF65-F5344CB8AC3E}">
        <p14:creationId xmlns:p14="http://schemas.microsoft.com/office/powerpoint/2010/main" val="162386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F563-D4E4-CA7E-0586-071E88F9D1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D9B229-B5AB-32AB-272A-5BF1CE7EDD85}"/>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B066A363-1B37-F054-023A-26F8B68CDE4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644C303C-8774-843D-FE60-6CE03C51594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8477FABD-6087-B6AE-6A63-AAE58981DDD8}"/>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78DA2784-C7E8-2296-8652-67C081578B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74F54E9D-93F6-53CD-FEC9-B4DE3065D57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9314B6AD-8B83-35EB-851F-BFA07C1DE221}"/>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F5A25FB4-210F-BD25-5BFE-D0F1004DDDC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E30F44B8-4CA5-28C3-11ED-F5B628E9CAC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6BA75678-C97C-BB44-415E-785E8C158BCF}"/>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4F9CF587-7259-F672-7536-2621431B19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2237B749-E407-4C59-B3B7-838E101205A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E2C8DAC8-89EB-B201-2AB3-74EDE293F322}"/>
              </a:ext>
            </a:extLst>
          </p:cNvPr>
          <p:cNvSpPr>
            <a:spLocks noGrp="1"/>
          </p:cNvSpPr>
          <p:nvPr/>
        </p:nvSpPr>
        <p:spPr>
          <a:xfrm>
            <a:off x="4943841" y="1409700"/>
            <a:ext cx="8637592"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ELABORATION DES PLANS</a:t>
            </a:r>
          </a:p>
        </p:txBody>
      </p:sp>
      <p:sp>
        <p:nvSpPr>
          <p:cNvPr id="18" name="Espace réservé du contenu 2">
            <a:extLst>
              <a:ext uri="{FF2B5EF4-FFF2-40B4-BE49-F238E27FC236}">
                <a16:creationId xmlns:a16="http://schemas.microsoft.com/office/drawing/2014/main" id="{119D518D-7B32-E4E3-639D-210794B1BE55}"/>
              </a:ext>
            </a:extLst>
          </p:cNvPr>
          <p:cNvSpPr txBox="1">
            <a:spLocks/>
          </p:cNvSpPr>
          <p:nvPr/>
        </p:nvSpPr>
        <p:spPr>
          <a:xfrm>
            <a:off x="5442800" y="3379313"/>
            <a:ext cx="8596668" cy="500585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Présentation Générale</a:t>
            </a:r>
          </a:p>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Analyse et choix des outils</a:t>
            </a:r>
          </a:p>
          <a:p>
            <a:pPr>
              <a:lnSpc>
                <a:spcPct val="150000"/>
              </a:lnSpc>
            </a:pPr>
            <a:r>
              <a:rPr lang="fr-FR" dirty="0">
                <a:effectLst>
                  <a:outerShdw blurRad="38100" dist="38100" dir="2700000" algn="tl">
                    <a:srgbClr val="000000">
                      <a:alpha val="43137"/>
                    </a:srgbClr>
                  </a:outerShdw>
                </a:effectLst>
                <a:latin typeface="Arial Black" panose="020B0A04020102020204" pitchFamily="34" charset="0"/>
                <a:cs typeface="Arial" panose="020B0604020202020204" pitchFamily="34" charset="0"/>
              </a:rPr>
              <a:t>Démonstration</a:t>
            </a:r>
          </a:p>
          <a:p>
            <a:endParaRPr lang="fr-FR" dirty="0"/>
          </a:p>
        </p:txBody>
      </p:sp>
    </p:spTree>
    <p:extLst>
      <p:ext uri="{BB962C8B-B14F-4D97-AF65-F5344CB8AC3E}">
        <p14:creationId xmlns:p14="http://schemas.microsoft.com/office/powerpoint/2010/main" val="596584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a:off x="1905000" y="8496300"/>
            <a:ext cx="916071" cy="91607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3975411" y="443506"/>
            <a:ext cx="585194" cy="58519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299890" y="268195"/>
            <a:ext cx="68629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L’ENI</a:t>
            </a:r>
          </a:p>
        </p:txBody>
      </p:sp>
      <p:pic>
        <p:nvPicPr>
          <p:cNvPr id="27" name="Image 26">
            <a:extLst>
              <a:ext uri="{FF2B5EF4-FFF2-40B4-BE49-F238E27FC236}">
                <a16:creationId xmlns:a16="http://schemas.microsoft.com/office/drawing/2014/main" id="{CB36552A-D22C-E361-8376-4D39C85B9B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21000" y="431910"/>
            <a:ext cx="2176462" cy="2176462"/>
          </a:xfrm>
          <a:prstGeom prst="rect">
            <a:avLst/>
          </a:prstGeom>
        </p:spPr>
      </p:pic>
      <p:pic>
        <p:nvPicPr>
          <p:cNvPr id="29" name="Image 28">
            <a:extLst>
              <a:ext uri="{FF2B5EF4-FFF2-40B4-BE49-F238E27FC236}">
                <a16:creationId xmlns:a16="http://schemas.microsoft.com/office/drawing/2014/main" id="{5B0875B0-B73F-6BFC-9A11-0D3D8FA16650}"/>
              </a:ext>
            </a:extLst>
          </p:cNvPr>
          <p:cNvPicPr>
            <a:picLocks noChangeAspect="1"/>
          </p:cNvPicPr>
          <p:nvPr/>
        </p:nvPicPr>
        <p:blipFill>
          <a:blip r:embed="rId4">
            <a:extLst>
              <a:ext uri="{28A0092B-C50C-407E-A947-70E740481C1C}">
                <a14:useLocalDpi xmlns:a14="http://schemas.microsoft.com/office/drawing/2010/main" val="0"/>
              </a:ext>
            </a:extLst>
          </a:blip>
          <a:srcRect t="19659" r="13501"/>
          <a:stretch>
            <a:fillRect/>
          </a:stretch>
        </p:blipFill>
        <p:spPr>
          <a:xfrm>
            <a:off x="457200" y="2886338"/>
            <a:ext cx="8229600" cy="43032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B885F-B2F4-B845-27A0-D6CD71FCB8BE}"/>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79CBFFE3-D53B-959F-FC7E-6988014D1525}"/>
              </a:ext>
            </a:extLst>
          </p:cNvPr>
          <p:cNvGrpSpPr/>
          <p:nvPr/>
        </p:nvGrpSpPr>
        <p:grpSpPr>
          <a:xfrm>
            <a:off x="1905000" y="8496300"/>
            <a:ext cx="916071" cy="916071"/>
            <a:chOff x="0" y="0"/>
            <a:chExt cx="812800" cy="812800"/>
          </a:xfrm>
        </p:grpSpPr>
        <p:sp>
          <p:nvSpPr>
            <p:cNvPr id="13" name="Freeform 13">
              <a:extLst>
                <a:ext uri="{FF2B5EF4-FFF2-40B4-BE49-F238E27FC236}">
                  <a16:creationId xmlns:a16="http://schemas.microsoft.com/office/drawing/2014/main" id="{8B7991CD-529C-1FDA-7DDB-693EE25233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0BFAA2C5-85B3-DFC7-FF12-22EDEF15C63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69321DF-3517-CD24-5BAB-06FA9E1486A1}"/>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66D13C38-4394-90D5-AE0D-D8A8EF9163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C0244284-EA80-A922-6795-DD38F262163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DF8E3734-B159-CD93-0BA2-6BE4AD422609}"/>
              </a:ext>
            </a:extLst>
          </p:cNvPr>
          <p:cNvSpPr txBox="1"/>
          <p:nvPr/>
        </p:nvSpPr>
        <p:spPr>
          <a:xfrm>
            <a:off x="299890" y="268195"/>
            <a:ext cx="68629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L’ENI</a:t>
            </a:r>
          </a:p>
        </p:txBody>
      </p:sp>
      <p:pic>
        <p:nvPicPr>
          <p:cNvPr id="26" name="Image 25">
            <a:extLst>
              <a:ext uri="{FF2B5EF4-FFF2-40B4-BE49-F238E27FC236}">
                <a16:creationId xmlns:a16="http://schemas.microsoft.com/office/drawing/2014/main" id="{BCD4791A-6D4D-E348-5690-0F9CA5123E24}"/>
              </a:ext>
            </a:extLst>
          </p:cNvPr>
          <p:cNvPicPr>
            <a:picLocks noChangeAspect="1"/>
          </p:cNvPicPr>
          <p:nvPr/>
        </p:nvPicPr>
        <p:blipFill>
          <a:blip r:embed="rId3"/>
          <a:srcRect b="33669"/>
          <a:stretch>
            <a:fillRect/>
          </a:stretch>
        </p:blipFill>
        <p:spPr>
          <a:xfrm>
            <a:off x="9144000" y="2635803"/>
            <a:ext cx="7496753" cy="5659329"/>
          </a:xfrm>
          <a:prstGeom prst="rect">
            <a:avLst/>
          </a:prstGeom>
        </p:spPr>
      </p:pic>
      <p:pic>
        <p:nvPicPr>
          <p:cNvPr id="27" name="Image 26">
            <a:extLst>
              <a:ext uri="{FF2B5EF4-FFF2-40B4-BE49-F238E27FC236}">
                <a16:creationId xmlns:a16="http://schemas.microsoft.com/office/drawing/2014/main" id="{EE63FB11-8FB8-1EF1-6CA0-851196D884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21000" y="431910"/>
            <a:ext cx="2176462" cy="2176462"/>
          </a:xfrm>
          <a:prstGeom prst="rect">
            <a:avLst/>
          </a:prstGeom>
        </p:spPr>
      </p:pic>
      <p:pic>
        <p:nvPicPr>
          <p:cNvPr id="29" name="Image 28">
            <a:extLst>
              <a:ext uri="{FF2B5EF4-FFF2-40B4-BE49-F238E27FC236}">
                <a16:creationId xmlns:a16="http://schemas.microsoft.com/office/drawing/2014/main" id="{7BD2AFC1-FA8F-6895-4FB8-1FB2542FD186}"/>
              </a:ext>
            </a:extLst>
          </p:cNvPr>
          <p:cNvPicPr>
            <a:picLocks noChangeAspect="1"/>
          </p:cNvPicPr>
          <p:nvPr/>
        </p:nvPicPr>
        <p:blipFill>
          <a:blip r:embed="rId5">
            <a:extLst>
              <a:ext uri="{28A0092B-C50C-407E-A947-70E740481C1C}">
                <a14:useLocalDpi xmlns:a14="http://schemas.microsoft.com/office/drawing/2010/main" val="0"/>
              </a:ext>
            </a:extLst>
          </a:blip>
          <a:srcRect t="19659" r="13501"/>
          <a:stretch>
            <a:fillRect/>
          </a:stretch>
        </p:blipFill>
        <p:spPr>
          <a:xfrm>
            <a:off x="457200" y="2886338"/>
            <a:ext cx="8229600" cy="4303288"/>
          </a:xfrm>
          <a:prstGeom prst="rect">
            <a:avLst/>
          </a:prstGeom>
        </p:spPr>
      </p:pic>
    </p:spTree>
    <p:extLst>
      <p:ext uri="{BB962C8B-B14F-4D97-AF65-F5344CB8AC3E}">
        <p14:creationId xmlns:p14="http://schemas.microsoft.com/office/powerpoint/2010/main" val="836078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5EF05-6715-E71D-0B4A-5557EEFCCDC5}"/>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05B476F0-9DEC-D9A1-E4C4-962D6FEF0F8A}"/>
              </a:ext>
            </a:extLst>
          </p:cNvPr>
          <p:cNvGrpSpPr/>
          <p:nvPr/>
        </p:nvGrpSpPr>
        <p:grpSpPr>
          <a:xfrm>
            <a:off x="1905000" y="8496300"/>
            <a:ext cx="916071" cy="916071"/>
            <a:chOff x="0" y="0"/>
            <a:chExt cx="812800" cy="812800"/>
          </a:xfrm>
        </p:grpSpPr>
        <p:sp>
          <p:nvSpPr>
            <p:cNvPr id="13" name="Freeform 13">
              <a:extLst>
                <a:ext uri="{FF2B5EF4-FFF2-40B4-BE49-F238E27FC236}">
                  <a16:creationId xmlns:a16="http://schemas.microsoft.com/office/drawing/2014/main" id="{369A9A94-80E4-F529-8718-02E81B33FD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7DCC3B73-6897-39E4-2E56-A4EE8063E9B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DB5E5449-F02B-5DB8-1D6A-D1C72B07FCA2}"/>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26FB7D23-8D10-988F-F526-564C837BA7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78ECB6AF-C2FB-5EA6-9E87-C28958CF261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187B91EB-4983-A80E-A114-5D9CDB189E13}"/>
              </a:ext>
            </a:extLst>
          </p:cNvPr>
          <p:cNvSpPr txBox="1"/>
          <p:nvPr/>
        </p:nvSpPr>
        <p:spPr>
          <a:xfrm>
            <a:off x="299890" y="268195"/>
            <a:ext cx="6786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L’ENI</a:t>
            </a:r>
          </a:p>
        </p:txBody>
      </p:sp>
      <p:sp>
        <p:nvSpPr>
          <p:cNvPr id="2" name="Espace réservé du contenu 2">
            <a:extLst>
              <a:ext uri="{FF2B5EF4-FFF2-40B4-BE49-F238E27FC236}">
                <a16:creationId xmlns:a16="http://schemas.microsoft.com/office/drawing/2014/main" id="{B376849E-232C-CCED-F181-E4C48834B064}"/>
              </a:ext>
            </a:extLst>
          </p:cNvPr>
          <p:cNvSpPr txBox="1">
            <a:spLocks/>
          </p:cNvSpPr>
          <p:nvPr/>
        </p:nvSpPr>
        <p:spPr>
          <a:xfrm>
            <a:off x="677334" y="1454727"/>
            <a:ext cx="8596668" cy="500149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latin typeface="Arial Black" panose="020B0A04020102020204" pitchFamily="34" charset="0"/>
              </a:rPr>
              <a:t>Domaine de spécialisation</a:t>
            </a:r>
          </a:p>
          <a:p>
            <a:pPr marL="0" indent="0">
              <a:buFont typeface="Arial" pitchFamily="34" charset="0"/>
              <a:buNone/>
            </a:pPr>
            <a:endParaRPr lang="fr-FR" dirty="0"/>
          </a:p>
        </p:txBody>
      </p:sp>
      <p:pic>
        <p:nvPicPr>
          <p:cNvPr id="3" name="Image 2">
            <a:extLst>
              <a:ext uri="{FF2B5EF4-FFF2-40B4-BE49-F238E27FC236}">
                <a16:creationId xmlns:a16="http://schemas.microsoft.com/office/drawing/2014/main" id="{7EB36BBA-2E6F-6EE3-5731-EC990154C1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21000" y="431910"/>
            <a:ext cx="2176462" cy="2176462"/>
          </a:xfrm>
          <a:prstGeom prst="rect">
            <a:avLst/>
          </a:prstGeom>
        </p:spPr>
      </p:pic>
      <p:pic>
        <p:nvPicPr>
          <p:cNvPr id="4" name="Image 3">
            <a:extLst>
              <a:ext uri="{FF2B5EF4-FFF2-40B4-BE49-F238E27FC236}">
                <a16:creationId xmlns:a16="http://schemas.microsoft.com/office/drawing/2014/main" id="{40C0DBC0-15B0-73EA-DC6A-4D17AF30A5C5}"/>
              </a:ext>
            </a:extLst>
          </p:cNvPr>
          <p:cNvPicPr>
            <a:picLocks noChangeAspect="1"/>
          </p:cNvPicPr>
          <p:nvPr/>
        </p:nvPicPr>
        <p:blipFill>
          <a:blip r:embed="rId4" cstate="print">
            <a:extLst>
              <a:ext uri="{28A0092B-C50C-407E-A947-70E740481C1C}">
                <a14:useLocalDpi xmlns:a14="http://schemas.microsoft.com/office/drawing/2010/main" val="0"/>
              </a:ext>
            </a:extLst>
          </a:blip>
          <a:srcRect t="19659" r="13501"/>
          <a:stretch>
            <a:fillRect/>
          </a:stretch>
        </p:blipFill>
        <p:spPr>
          <a:xfrm>
            <a:off x="10210800" y="3914595"/>
            <a:ext cx="7204267" cy="3767138"/>
          </a:xfrm>
          <a:prstGeom prst="rect">
            <a:avLst/>
          </a:prstGeom>
        </p:spPr>
      </p:pic>
    </p:spTree>
    <p:extLst>
      <p:ext uri="{BB962C8B-B14F-4D97-AF65-F5344CB8AC3E}">
        <p14:creationId xmlns:p14="http://schemas.microsoft.com/office/powerpoint/2010/main" val="3455308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B903F-5800-4338-0216-0D0619B17133}"/>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9D0B016D-D63C-682F-4E98-B02F1971EED1}"/>
              </a:ext>
            </a:extLst>
          </p:cNvPr>
          <p:cNvGrpSpPr/>
          <p:nvPr/>
        </p:nvGrpSpPr>
        <p:grpSpPr>
          <a:xfrm>
            <a:off x="1905000" y="8496300"/>
            <a:ext cx="916071" cy="916071"/>
            <a:chOff x="0" y="0"/>
            <a:chExt cx="812800" cy="812800"/>
          </a:xfrm>
        </p:grpSpPr>
        <p:sp>
          <p:nvSpPr>
            <p:cNvPr id="13" name="Freeform 13">
              <a:extLst>
                <a:ext uri="{FF2B5EF4-FFF2-40B4-BE49-F238E27FC236}">
                  <a16:creationId xmlns:a16="http://schemas.microsoft.com/office/drawing/2014/main" id="{A412AE24-8BC8-9B3E-54AD-4A4A68FDDE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0A58FD4D-B899-F972-1501-2A5CAD03CFA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FED28C98-1BFE-6C6E-642F-6E3516B8D746}"/>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CBFAFBF5-6CE9-A1CD-0F85-6E01D4E26C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E6F8BE48-8F58-B190-D5AD-0DFB8B8E973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B1C80787-3E0E-DD85-0014-8D7C747C85F1}"/>
              </a:ext>
            </a:extLst>
          </p:cNvPr>
          <p:cNvSpPr txBox="1"/>
          <p:nvPr/>
        </p:nvSpPr>
        <p:spPr>
          <a:xfrm>
            <a:off x="299890" y="268195"/>
            <a:ext cx="6786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L’ENI</a:t>
            </a:r>
          </a:p>
        </p:txBody>
      </p:sp>
      <p:sp>
        <p:nvSpPr>
          <p:cNvPr id="2" name="Espace réservé du contenu 2">
            <a:extLst>
              <a:ext uri="{FF2B5EF4-FFF2-40B4-BE49-F238E27FC236}">
                <a16:creationId xmlns:a16="http://schemas.microsoft.com/office/drawing/2014/main" id="{F37DC942-2565-68F5-1A2A-D64F3D5EEE9F}"/>
              </a:ext>
            </a:extLst>
          </p:cNvPr>
          <p:cNvSpPr txBox="1">
            <a:spLocks/>
          </p:cNvSpPr>
          <p:nvPr/>
        </p:nvSpPr>
        <p:spPr>
          <a:xfrm>
            <a:off x="677334" y="1454727"/>
            <a:ext cx="8596668" cy="500149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latin typeface="Arial Black" panose="020B0A04020102020204" pitchFamily="34" charset="0"/>
              </a:rPr>
              <a:t>Domaine de spécialisation</a:t>
            </a:r>
          </a:p>
          <a:p>
            <a:pPr lvl="1" algn="just">
              <a:lnSpc>
                <a:spcPct val="150000"/>
              </a:lnSpc>
              <a:buFont typeface="Wingdings" panose="05000000000000000000" pitchFamily="2" charset="2"/>
              <a:buChar char="ü"/>
            </a:pPr>
            <a:r>
              <a:rPr lang="fr-FR"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Génie logicielle et Gestion de Base de Données(GB)</a:t>
            </a:r>
          </a:p>
          <a:p>
            <a:pPr lvl="1" algn="just">
              <a:lnSpc>
                <a:spcPct val="150000"/>
              </a:lnSpc>
              <a:buFont typeface="Wingdings" panose="05000000000000000000" pitchFamily="2" charset="2"/>
              <a:buChar char="ü"/>
            </a:pPr>
            <a:r>
              <a:rPr lang="fr-FR"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Administration des Systèmes et Réseaux(ASR)</a:t>
            </a:r>
          </a:p>
          <a:p>
            <a:pPr lvl="1" algn="just">
              <a:lnSpc>
                <a:spcPct val="150000"/>
              </a:lnSpc>
              <a:buFont typeface="Wingdings" panose="05000000000000000000" pitchFamily="2" charset="2"/>
              <a:buChar char="ü"/>
            </a:pPr>
            <a:r>
              <a:rPr lang="fr-FR"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Informatique Générale(IG)</a:t>
            </a:r>
          </a:p>
          <a:p>
            <a:pPr lvl="1" algn="just">
              <a:lnSpc>
                <a:spcPct val="150000"/>
              </a:lnSpc>
              <a:buFont typeface="Wingdings" panose="05000000000000000000" pitchFamily="2" charset="2"/>
              <a:buChar char="ü"/>
            </a:pPr>
            <a:r>
              <a:rPr lang="fr-FR"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Gouvernance et Ingénierie des Données(GID)</a:t>
            </a:r>
          </a:p>
          <a:p>
            <a:pPr lvl="1" algn="just">
              <a:lnSpc>
                <a:spcPct val="150000"/>
              </a:lnSpc>
              <a:buFont typeface="Wingdings" panose="05000000000000000000" pitchFamily="2" charset="2"/>
              <a:buChar char="ü"/>
            </a:pPr>
            <a:r>
              <a:rPr lang="fr-FR"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Object Connectés et Cyber sécurité(OCC)</a:t>
            </a:r>
          </a:p>
          <a:p>
            <a:pPr marL="0" indent="0">
              <a:buFont typeface="Arial" pitchFamily="34" charset="0"/>
              <a:buNone/>
            </a:pPr>
            <a:endParaRPr lang="fr-FR" dirty="0"/>
          </a:p>
        </p:txBody>
      </p:sp>
      <p:pic>
        <p:nvPicPr>
          <p:cNvPr id="3" name="Image 2">
            <a:extLst>
              <a:ext uri="{FF2B5EF4-FFF2-40B4-BE49-F238E27FC236}">
                <a16:creationId xmlns:a16="http://schemas.microsoft.com/office/drawing/2014/main" id="{1C485AC2-7035-F184-A1C3-F9D0B0AA14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21000" y="431910"/>
            <a:ext cx="2176462" cy="2176462"/>
          </a:xfrm>
          <a:prstGeom prst="rect">
            <a:avLst/>
          </a:prstGeom>
        </p:spPr>
      </p:pic>
      <p:pic>
        <p:nvPicPr>
          <p:cNvPr id="4" name="Image 3">
            <a:extLst>
              <a:ext uri="{FF2B5EF4-FFF2-40B4-BE49-F238E27FC236}">
                <a16:creationId xmlns:a16="http://schemas.microsoft.com/office/drawing/2014/main" id="{BFD4385A-1265-A59E-A3FE-48EC2FC65C00}"/>
              </a:ext>
            </a:extLst>
          </p:cNvPr>
          <p:cNvPicPr>
            <a:picLocks noChangeAspect="1"/>
          </p:cNvPicPr>
          <p:nvPr/>
        </p:nvPicPr>
        <p:blipFill>
          <a:blip r:embed="rId4" cstate="print">
            <a:extLst>
              <a:ext uri="{28A0092B-C50C-407E-A947-70E740481C1C}">
                <a14:useLocalDpi xmlns:a14="http://schemas.microsoft.com/office/drawing/2010/main" val="0"/>
              </a:ext>
            </a:extLst>
          </a:blip>
          <a:srcRect t="19659" r="13501"/>
          <a:stretch>
            <a:fillRect/>
          </a:stretch>
        </p:blipFill>
        <p:spPr>
          <a:xfrm>
            <a:off x="10210800" y="3914595"/>
            <a:ext cx="7204267" cy="3767138"/>
          </a:xfrm>
          <a:prstGeom prst="rect">
            <a:avLst/>
          </a:prstGeom>
        </p:spPr>
      </p:pic>
    </p:spTree>
    <p:extLst>
      <p:ext uri="{BB962C8B-B14F-4D97-AF65-F5344CB8AC3E}">
        <p14:creationId xmlns:p14="http://schemas.microsoft.com/office/powerpoint/2010/main" val="550126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8F13-DB62-46E7-7ED0-6B6CF4B8957A}"/>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5FC4F77A-6615-0DB3-663A-3CEE78FDCBCB}"/>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42D7181A-046F-A63E-DAA2-FC4C91668C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71504EA1-38E1-14CE-086D-E91C26093B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B719243D-43C9-48C9-ADBC-1B79CCF68CDB}"/>
              </a:ext>
            </a:extLst>
          </p:cNvPr>
          <p:cNvGrpSpPr/>
          <p:nvPr/>
        </p:nvGrpSpPr>
        <p:grpSpPr>
          <a:xfrm>
            <a:off x="17309603" y="6438900"/>
            <a:ext cx="585194" cy="585194"/>
            <a:chOff x="0" y="0"/>
            <a:chExt cx="812800" cy="812800"/>
          </a:xfrm>
        </p:grpSpPr>
        <p:sp>
          <p:nvSpPr>
            <p:cNvPr id="16" name="Freeform 16">
              <a:extLst>
                <a:ext uri="{FF2B5EF4-FFF2-40B4-BE49-F238E27FC236}">
                  <a16:creationId xmlns:a16="http://schemas.microsoft.com/office/drawing/2014/main" id="{82F0E58E-587F-77A6-7258-ABEC8E07BF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21BB7BD1-E46A-D391-58B3-6F0A7AEC7B2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878E42C8-A8C8-6F73-743B-93D2710B25D4}"/>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FUNTOA SMIE</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pic>
        <p:nvPicPr>
          <p:cNvPr id="8" name="Image 7">
            <a:extLst>
              <a:ext uri="{FF2B5EF4-FFF2-40B4-BE49-F238E27FC236}">
                <a16:creationId xmlns:a16="http://schemas.microsoft.com/office/drawing/2014/main" id="{4893E609-ECF7-AF51-634C-CBEFA446D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7629" y="0"/>
            <a:ext cx="3760359" cy="1796406"/>
          </a:xfrm>
          <a:prstGeom prst="rect">
            <a:avLst/>
          </a:prstGeom>
        </p:spPr>
      </p:pic>
    </p:spTree>
    <p:extLst>
      <p:ext uri="{BB962C8B-B14F-4D97-AF65-F5344CB8AC3E}">
        <p14:creationId xmlns:p14="http://schemas.microsoft.com/office/powerpoint/2010/main" val="3878329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7D35-6507-DBE6-D215-55EDA01DE90B}"/>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C63BFB6C-AD26-9BDD-1900-994D3C297446}"/>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69DA2E05-30DC-B0DD-7831-3BB53E2A12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A8134418-2951-6A02-2C22-4E2462B0EFE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1B84F727-268F-1640-35DB-2418B56047EC}"/>
              </a:ext>
            </a:extLst>
          </p:cNvPr>
          <p:cNvGrpSpPr/>
          <p:nvPr/>
        </p:nvGrpSpPr>
        <p:grpSpPr>
          <a:xfrm>
            <a:off x="17309603" y="6438900"/>
            <a:ext cx="585194" cy="585194"/>
            <a:chOff x="0" y="0"/>
            <a:chExt cx="812800" cy="812800"/>
          </a:xfrm>
        </p:grpSpPr>
        <p:sp>
          <p:nvSpPr>
            <p:cNvPr id="16" name="Freeform 16">
              <a:extLst>
                <a:ext uri="{FF2B5EF4-FFF2-40B4-BE49-F238E27FC236}">
                  <a16:creationId xmlns:a16="http://schemas.microsoft.com/office/drawing/2014/main" id="{D13CCAE6-EDF4-666A-FE81-74B76A7506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018DA6B8-146A-40B1-9925-1A2CF61A177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D2EEF00D-7EF5-2985-51FE-03F8D61CB7FA}"/>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DE FUNTOA SMIE</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pic>
        <p:nvPicPr>
          <p:cNvPr id="7" name="Image 6">
            <a:extLst>
              <a:ext uri="{FF2B5EF4-FFF2-40B4-BE49-F238E27FC236}">
                <a16:creationId xmlns:a16="http://schemas.microsoft.com/office/drawing/2014/main" id="{AB19A84C-4F1F-F0BF-AD33-4642D39A3673}"/>
              </a:ext>
            </a:extLst>
          </p:cNvPr>
          <p:cNvPicPr>
            <a:picLocks noChangeAspect="1"/>
          </p:cNvPicPr>
          <p:nvPr/>
        </p:nvPicPr>
        <p:blipFill>
          <a:blip r:embed="rId3"/>
          <a:stretch>
            <a:fillRect/>
          </a:stretch>
        </p:blipFill>
        <p:spPr>
          <a:xfrm>
            <a:off x="896288" y="1485028"/>
            <a:ext cx="14020800" cy="7609553"/>
          </a:xfrm>
          <a:prstGeom prst="rect">
            <a:avLst/>
          </a:prstGeom>
        </p:spPr>
      </p:pic>
      <p:pic>
        <p:nvPicPr>
          <p:cNvPr id="8" name="Image 7">
            <a:extLst>
              <a:ext uri="{FF2B5EF4-FFF2-40B4-BE49-F238E27FC236}">
                <a16:creationId xmlns:a16="http://schemas.microsoft.com/office/drawing/2014/main" id="{12D91B29-5004-3C36-EC4D-B6F822C247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57629" y="0"/>
            <a:ext cx="3760359" cy="1796406"/>
          </a:xfrm>
          <a:prstGeom prst="rect">
            <a:avLst/>
          </a:prstGeom>
        </p:spPr>
      </p:pic>
    </p:spTree>
    <p:extLst>
      <p:ext uri="{BB962C8B-B14F-4D97-AF65-F5344CB8AC3E}">
        <p14:creationId xmlns:p14="http://schemas.microsoft.com/office/powerpoint/2010/main" val="768456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E89AC-99B5-9050-10D7-211637C8065A}"/>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AF47F2DE-C13B-E999-733B-C8DE9D47AE0E}"/>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49052D5F-98D7-975C-019D-753AFCDEAC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940A7AE7-87AD-B21E-A7CB-18285213C1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43E4A57-37EA-4047-78C4-45D8C97F6D39}"/>
              </a:ext>
            </a:extLst>
          </p:cNvPr>
          <p:cNvGrpSpPr/>
          <p:nvPr/>
        </p:nvGrpSpPr>
        <p:grpSpPr>
          <a:xfrm>
            <a:off x="17309603" y="6438900"/>
            <a:ext cx="585194" cy="585194"/>
            <a:chOff x="0" y="0"/>
            <a:chExt cx="812800" cy="812800"/>
          </a:xfrm>
        </p:grpSpPr>
        <p:sp>
          <p:nvSpPr>
            <p:cNvPr id="16" name="Freeform 16">
              <a:extLst>
                <a:ext uri="{FF2B5EF4-FFF2-40B4-BE49-F238E27FC236}">
                  <a16:creationId xmlns:a16="http://schemas.microsoft.com/office/drawing/2014/main" id="{767924E2-F01B-3484-2E3F-E8F9B13A45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E1FBA96E-A0ED-2F13-71A2-D18160DAE56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F3F3AB7B-E991-CB96-F650-0891AE6BA6EA}"/>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Tree>
    <p:extLst>
      <p:ext uri="{BB962C8B-B14F-4D97-AF65-F5344CB8AC3E}">
        <p14:creationId xmlns:p14="http://schemas.microsoft.com/office/powerpoint/2010/main" val="1511225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877E1-6C47-E00F-CCE6-99C79D040135}"/>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87A87471-51AA-7432-BC0B-4C0E72C043F1}"/>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082EEC31-4E71-4DD6-4781-A174D4BF94F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D7162C82-A231-D4B2-46B8-D07F404646B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3B3A621D-E24F-82DA-EB6E-D55BF7878888}"/>
              </a:ext>
            </a:extLst>
          </p:cNvPr>
          <p:cNvGrpSpPr/>
          <p:nvPr/>
        </p:nvGrpSpPr>
        <p:grpSpPr>
          <a:xfrm>
            <a:off x="17309603" y="6438900"/>
            <a:ext cx="585194" cy="585194"/>
            <a:chOff x="0" y="0"/>
            <a:chExt cx="812800" cy="812800"/>
          </a:xfrm>
        </p:grpSpPr>
        <p:sp>
          <p:nvSpPr>
            <p:cNvPr id="16" name="Freeform 16">
              <a:extLst>
                <a:ext uri="{FF2B5EF4-FFF2-40B4-BE49-F238E27FC236}">
                  <a16:creationId xmlns:a16="http://schemas.microsoft.com/office/drawing/2014/main" id="{FCC710FB-5D70-5B5D-784D-FB03DA7E48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4A908924-1772-2817-FC3B-190670C5A50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9FA2AF9A-AF35-9DE3-2EF0-36AA47FBF3AC}"/>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
        <p:nvSpPr>
          <p:cNvPr id="4" name="Titre 3">
            <a:extLst>
              <a:ext uri="{FF2B5EF4-FFF2-40B4-BE49-F238E27FC236}">
                <a16:creationId xmlns:a16="http://schemas.microsoft.com/office/drawing/2014/main" id="{E5FF6D48-B555-38D8-AE09-37293C93735D}"/>
              </a:ext>
            </a:extLst>
          </p:cNvPr>
          <p:cNvSpPr>
            <a:spLocks noGrp="1"/>
          </p:cNvSpPr>
          <p:nvPr>
            <p:ph type="ctrTitle"/>
          </p:nvPr>
        </p:nvSpPr>
        <p:spPr>
          <a:xfrm>
            <a:off x="685800" y="1173111"/>
            <a:ext cx="7772400" cy="1470025"/>
          </a:xfrm>
        </p:spPr>
        <p:txBody>
          <a:bodyPr/>
          <a:lstStyle/>
          <a:p>
            <a:r>
              <a:rPr lang="fr-FR" b="1" dirty="0">
                <a:latin typeface="Arial Black" panose="020B0A04020102020204" pitchFamily="34" charset="0"/>
              </a:rPr>
              <a:t>Contexte général</a:t>
            </a:r>
            <a:endParaRPr lang="fr-MG" b="1" dirty="0">
              <a:latin typeface="Arial Black" panose="020B0A04020102020204" pitchFamily="34" charset="0"/>
            </a:endParaRPr>
          </a:p>
        </p:txBody>
      </p:sp>
      <p:sp>
        <p:nvSpPr>
          <p:cNvPr id="6" name="Rectangle 1">
            <a:extLst>
              <a:ext uri="{FF2B5EF4-FFF2-40B4-BE49-F238E27FC236}">
                <a16:creationId xmlns:a16="http://schemas.microsoft.com/office/drawing/2014/main" id="{2934BAE7-654F-FBAD-A7AC-98C7BAD59D9F}"/>
              </a:ext>
            </a:extLst>
          </p:cNvPr>
          <p:cNvSpPr>
            <a:spLocks noGrp="1" noChangeArrowheads="1"/>
          </p:cNvSpPr>
          <p:nvPr>
            <p:ph type="subTitle" idx="1"/>
          </p:nvPr>
        </p:nvSpPr>
        <p:spPr bwMode="auto">
          <a:xfrm>
            <a:off x="1371599" y="2539295"/>
            <a:ext cx="14782801" cy="367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FontTx/>
              <a:buChar char="•"/>
            </a:pPr>
            <a:r>
              <a:rPr kumimoji="0" lang="fr-FR" altLang="fr-MG" sz="2400" b="0" i="0" u="none" strike="noStrike" cap="none" normalizeH="0" baseline="0" dirty="0">
                <a:ln>
                  <a:noFill/>
                </a:ln>
                <a:solidFill>
                  <a:schemeClr val="tx1"/>
                </a:solidFill>
                <a:effectLst/>
                <a:latin typeface="Arial" panose="020B0604020202020204" pitchFamily="34" charset="0"/>
              </a:rPr>
              <a:t> </a:t>
            </a:r>
            <a:r>
              <a:rPr lang="fr-FR" sz="24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Le SMIE utilisait des fichiers Excel pour gérer ses activités → manque de centralisation, erreurs fréquentes, faible traçabilité.</a:t>
            </a:r>
            <a:endParaRPr kumimoji="0" lang="fr-FR" altLang="fr-MG" sz="2400" b="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buFontTx/>
              <a:buChar char="•"/>
            </a:pPr>
            <a:r>
              <a:rPr lang="fr-FR" altLang="fr-MG" sz="24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Besoin de moderniser le système d’information pour gagner en fiabilité, sécurité et efficacité.</a:t>
            </a:r>
            <a:endParaRPr lang="fr-FR" altLang="fr-MG" sz="24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lvl="0" algn="just" eaLnBrk="0" fontAlgn="base" hangingPunct="0">
              <a:lnSpc>
                <a:spcPct val="200000"/>
              </a:lnSpc>
              <a:spcBef>
                <a:spcPct val="0"/>
              </a:spcBef>
              <a:spcAft>
                <a:spcPct val="0"/>
              </a:spcAft>
              <a:buFontTx/>
              <a:buChar char="•"/>
            </a:pPr>
            <a:r>
              <a:rPr kumimoji="0" lang="fr-FR" altLang="fr-MG" sz="2400" b="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Mission du stage : développer une application complète (Node.js, React, MySQL) et automatiser son déploiement via Docker, GitHub Actions et un VPS.</a:t>
            </a:r>
            <a:endParaRPr kumimoji="0" lang="fr-MG" altLang="fr-MG" sz="2400" b="0"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279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4362-1964-C7B3-1872-75201321503C}"/>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04A8E988-B806-3E38-373B-FBF12B0D03AB}"/>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57C8F1DF-B3AF-95D3-918C-37F4FECA48B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26CB6F2C-A48A-165D-5628-1D3A1461BD5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23C42B3-5F62-3D83-4DBC-893E374BA90C}"/>
              </a:ext>
            </a:extLst>
          </p:cNvPr>
          <p:cNvGrpSpPr/>
          <p:nvPr/>
        </p:nvGrpSpPr>
        <p:grpSpPr>
          <a:xfrm>
            <a:off x="13944600" y="6984"/>
            <a:ext cx="585194" cy="585194"/>
            <a:chOff x="0" y="0"/>
            <a:chExt cx="812800" cy="812800"/>
          </a:xfrm>
        </p:grpSpPr>
        <p:sp>
          <p:nvSpPr>
            <p:cNvPr id="16" name="Freeform 16">
              <a:extLst>
                <a:ext uri="{FF2B5EF4-FFF2-40B4-BE49-F238E27FC236}">
                  <a16:creationId xmlns:a16="http://schemas.microsoft.com/office/drawing/2014/main" id="{0B3274DD-B3E7-83CF-869F-CB61D59DD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BB781936-1D10-2B7C-155F-8AFD4EFAE27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9A77AAFE-2738-D3E3-66B5-885AF42685DA}"/>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
        <p:nvSpPr>
          <p:cNvPr id="4" name="Titre 3">
            <a:extLst>
              <a:ext uri="{FF2B5EF4-FFF2-40B4-BE49-F238E27FC236}">
                <a16:creationId xmlns:a16="http://schemas.microsoft.com/office/drawing/2014/main" id="{91653C25-9AD9-08C6-A203-24A4996A0EDC}"/>
              </a:ext>
            </a:extLst>
          </p:cNvPr>
          <p:cNvSpPr>
            <a:spLocks noGrp="1"/>
          </p:cNvSpPr>
          <p:nvPr>
            <p:ph type="ctrTitle"/>
          </p:nvPr>
        </p:nvSpPr>
        <p:spPr>
          <a:xfrm>
            <a:off x="685800" y="1173111"/>
            <a:ext cx="7772400" cy="1470025"/>
          </a:xfrm>
        </p:spPr>
        <p:txBody>
          <a:bodyPr/>
          <a:lstStyle/>
          <a:p>
            <a:r>
              <a:rPr lang="fr-FR" dirty="0">
                <a:latin typeface="Arial Black" panose="020B0A04020102020204" pitchFamily="34" charset="0"/>
              </a:rPr>
              <a:t>Objectifs du projet</a:t>
            </a:r>
            <a:endParaRPr lang="fr-MG" b="1" dirty="0">
              <a:latin typeface="Arial Black" panose="020B0A04020102020204" pitchFamily="34" charset="0"/>
            </a:endParaRPr>
          </a:p>
        </p:txBody>
      </p:sp>
      <p:sp>
        <p:nvSpPr>
          <p:cNvPr id="8" name="ZoneTexte 7">
            <a:extLst>
              <a:ext uri="{FF2B5EF4-FFF2-40B4-BE49-F238E27FC236}">
                <a16:creationId xmlns:a16="http://schemas.microsoft.com/office/drawing/2014/main" id="{6D0C6767-AB8D-E25A-97C6-AD38530B1F05}"/>
              </a:ext>
            </a:extLst>
          </p:cNvPr>
          <p:cNvSpPr txBox="1"/>
          <p:nvPr/>
        </p:nvSpPr>
        <p:spPr>
          <a:xfrm>
            <a:off x="393202" y="2643136"/>
            <a:ext cx="8369797" cy="5148332"/>
          </a:xfrm>
          <a:prstGeom prst="rect">
            <a:avLst/>
          </a:prstGeom>
          <a:noFill/>
        </p:spPr>
        <p:txBody>
          <a:bodyPr wrap="square">
            <a:spAutoFit/>
          </a:bodyPr>
          <a:lstStyle/>
          <a:p>
            <a:pPr marL="342900" indent="-342900">
              <a:lnSpc>
                <a:spcPct val="200000"/>
              </a:lnSpc>
              <a:buFont typeface="Wingdings" panose="05000000000000000000" pitchFamily="2" charset="2"/>
              <a:buChar char="v"/>
            </a:pPr>
            <a:r>
              <a:rPr lang="fr-FR" sz="2400" dirty="0">
                <a:latin typeface="Arial" panose="020B0604020202020204" pitchFamily="34" charset="0"/>
                <a:cs typeface="Arial" panose="020B0604020202020204" pitchFamily="34" charset="0"/>
              </a:rPr>
              <a:t>Centraliser et sécuriser les données médicales.</a:t>
            </a:r>
          </a:p>
          <a:p>
            <a:pPr marL="342900" indent="-342900">
              <a:lnSpc>
                <a:spcPct val="200000"/>
              </a:lnSpc>
              <a:buFont typeface="Wingdings" panose="05000000000000000000" pitchFamily="2" charset="2"/>
              <a:buChar char="v"/>
            </a:pPr>
            <a:r>
              <a:rPr lang="fr-FR" sz="2400" dirty="0">
                <a:latin typeface="Arial" panose="020B0604020202020204" pitchFamily="34" charset="0"/>
                <a:cs typeface="Arial" panose="020B0604020202020204" pitchFamily="34" charset="0"/>
              </a:rPr>
              <a:t>Automatiser les processus administratifs et réduire les tâches manuelles.</a:t>
            </a:r>
          </a:p>
          <a:p>
            <a:pPr marL="342900" indent="-342900">
              <a:lnSpc>
                <a:spcPct val="200000"/>
              </a:lnSpc>
              <a:buFont typeface="Wingdings" panose="05000000000000000000" pitchFamily="2" charset="2"/>
              <a:buChar char="v"/>
            </a:pPr>
            <a:r>
              <a:rPr lang="fr-FR" sz="2400" dirty="0">
                <a:latin typeface="Arial" panose="020B0604020202020204" pitchFamily="34" charset="0"/>
                <a:cs typeface="Arial" panose="020B0604020202020204" pitchFamily="34" charset="0"/>
              </a:rPr>
              <a:t>Permettre un suivi en temps réel des dossiers et activités.</a:t>
            </a:r>
          </a:p>
          <a:p>
            <a:pPr marL="342900" indent="-342900">
              <a:lnSpc>
                <a:spcPct val="200000"/>
              </a:lnSpc>
              <a:buFont typeface="Wingdings" panose="05000000000000000000" pitchFamily="2" charset="2"/>
              <a:buChar char="v"/>
            </a:pPr>
            <a:r>
              <a:rPr lang="fr-FR" sz="2400" dirty="0">
                <a:latin typeface="Arial" panose="020B0604020202020204" pitchFamily="34" charset="0"/>
                <a:cs typeface="Arial" panose="020B0604020202020204" pitchFamily="34" charset="0"/>
              </a:rPr>
              <a:t>Offrir une interface moderne, simple et intuitive.</a:t>
            </a:r>
          </a:p>
          <a:p>
            <a:pPr marL="342900" indent="-342900">
              <a:lnSpc>
                <a:spcPct val="200000"/>
              </a:lnSpc>
              <a:buFont typeface="Wingdings" panose="05000000000000000000" pitchFamily="2" charset="2"/>
              <a:buChar char="v"/>
            </a:pPr>
            <a:r>
              <a:rPr lang="fr-FR" sz="2400" dirty="0">
                <a:latin typeface="Arial" panose="020B0604020202020204" pitchFamily="34" charset="0"/>
                <a:cs typeface="Arial" panose="020B0604020202020204" pitchFamily="34" charset="0"/>
              </a:rPr>
              <a:t>Garantir la confidentialité et la conformité des données sensibles.</a:t>
            </a:r>
          </a:p>
        </p:txBody>
      </p:sp>
      <p:pic>
        <p:nvPicPr>
          <p:cNvPr id="80" name="Image 79">
            <a:extLst>
              <a:ext uri="{FF2B5EF4-FFF2-40B4-BE49-F238E27FC236}">
                <a16:creationId xmlns:a16="http://schemas.microsoft.com/office/drawing/2014/main" id="{4E50EB34-DE60-C7DE-A9B8-D71F87352A91}"/>
              </a:ext>
            </a:extLst>
          </p:cNvPr>
          <p:cNvPicPr>
            <a:picLocks noChangeAspect="1"/>
          </p:cNvPicPr>
          <p:nvPr/>
        </p:nvPicPr>
        <p:blipFill>
          <a:blip r:embed="rId3"/>
          <a:srcRect l="34070" r="3574"/>
          <a:stretch>
            <a:fillRect/>
          </a:stretch>
        </p:blipFill>
        <p:spPr>
          <a:xfrm>
            <a:off x="8979397" y="867239"/>
            <a:ext cx="8915401" cy="8098538"/>
          </a:xfrm>
          <a:prstGeom prst="rect">
            <a:avLst/>
          </a:prstGeom>
        </p:spPr>
      </p:pic>
    </p:spTree>
    <p:extLst>
      <p:ext uri="{BB962C8B-B14F-4D97-AF65-F5344CB8AC3E}">
        <p14:creationId xmlns:p14="http://schemas.microsoft.com/office/powerpoint/2010/main" val="1215018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43041-A0B8-4C26-51A7-896A92E6CCA5}"/>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E4AABDAB-A32A-00F9-B0C3-2DC449F7445E}"/>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E0D3A29D-D4DC-73CB-D085-03696A40EE0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1FD25DC3-D798-C7F3-0BBC-FFC51CE705D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778E202B-752E-FB3D-3604-FA9656365C36}"/>
              </a:ext>
            </a:extLst>
          </p:cNvPr>
          <p:cNvGrpSpPr/>
          <p:nvPr/>
        </p:nvGrpSpPr>
        <p:grpSpPr>
          <a:xfrm>
            <a:off x="13944600" y="6984"/>
            <a:ext cx="585194" cy="585194"/>
            <a:chOff x="0" y="0"/>
            <a:chExt cx="812800" cy="812800"/>
          </a:xfrm>
        </p:grpSpPr>
        <p:sp>
          <p:nvSpPr>
            <p:cNvPr id="16" name="Freeform 16">
              <a:extLst>
                <a:ext uri="{FF2B5EF4-FFF2-40B4-BE49-F238E27FC236}">
                  <a16:creationId xmlns:a16="http://schemas.microsoft.com/office/drawing/2014/main" id="{8AE08359-5AC7-0526-CD9F-6835E3FD84E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14DE0524-6E50-C812-F442-A7B54775E3C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8BC83752-70B5-A2F8-7371-F4658CF8BF8F}"/>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
        <p:nvSpPr>
          <p:cNvPr id="4" name="Titre 3">
            <a:extLst>
              <a:ext uri="{FF2B5EF4-FFF2-40B4-BE49-F238E27FC236}">
                <a16:creationId xmlns:a16="http://schemas.microsoft.com/office/drawing/2014/main" id="{BCDF2E26-BA91-EA8F-6FD2-F406BEB379B7}"/>
              </a:ext>
            </a:extLst>
          </p:cNvPr>
          <p:cNvSpPr>
            <a:spLocks noGrp="1"/>
          </p:cNvSpPr>
          <p:nvPr>
            <p:ph type="ctrTitle"/>
          </p:nvPr>
        </p:nvSpPr>
        <p:spPr>
          <a:xfrm>
            <a:off x="685800" y="1173111"/>
            <a:ext cx="7772400" cy="1470025"/>
          </a:xfrm>
        </p:spPr>
        <p:txBody>
          <a:bodyPr/>
          <a:lstStyle/>
          <a:p>
            <a:r>
              <a:rPr lang="fr-FR" b="1" dirty="0">
                <a:latin typeface="Arial Black" panose="020B0A04020102020204" pitchFamily="34" charset="0"/>
              </a:rPr>
              <a:t>Moyens techniques</a:t>
            </a:r>
            <a:endParaRPr lang="fr-MG" b="1" dirty="0">
              <a:latin typeface="Arial Black" panose="020B0A04020102020204" pitchFamily="34" charset="0"/>
            </a:endParaRPr>
          </a:p>
        </p:txBody>
      </p:sp>
      <p:pic>
        <p:nvPicPr>
          <p:cNvPr id="3" name="Image 2">
            <a:extLst>
              <a:ext uri="{FF2B5EF4-FFF2-40B4-BE49-F238E27FC236}">
                <a16:creationId xmlns:a16="http://schemas.microsoft.com/office/drawing/2014/main" id="{3969FA0D-98C3-770D-9184-1CF21F12F024}"/>
              </a:ext>
            </a:extLst>
          </p:cNvPr>
          <p:cNvPicPr>
            <a:picLocks noChangeAspect="1"/>
          </p:cNvPicPr>
          <p:nvPr/>
        </p:nvPicPr>
        <p:blipFill>
          <a:blip r:embed="rId3"/>
          <a:stretch>
            <a:fillRect/>
          </a:stretch>
        </p:blipFill>
        <p:spPr>
          <a:xfrm>
            <a:off x="2496563" y="2821969"/>
            <a:ext cx="12615112" cy="4643062"/>
          </a:xfrm>
          <a:prstGeom prst="rect">
            <a:avLst/>
          </a:prstGeom>
        </p:spPr>
      </p:pic>
    </p:spTree>
    <p:extLst>
      <p:ext uri="{BB962C8B-B14F-4D97-AF65-F5344CB8AC3E}">
        <p14:creationId xmlns:p14="http://schemas.microsoft.com/office/powerpoint/2010/main" val="3842647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3CE5-25A7-61E4-73D6-BDCE2DB46ED3}"/>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7205D433-5A37-1F2E-D788-4497094E4DB1}"/>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D8B12DF7-80DD-7F65-3F8C-C3ED4A3956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27F7E19D-0C23-4A1B-5478-45CCF614165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5DD5AA1-775D-A40E-69F6-ED2318C7FBAC}"/>
              </a:ext>
            </a:extLst>
          </p:cNvPr>
          <p:cNvGrpSpPr/>
          <p:nvPr/>
        </p:nvGrpSpPr>
        <p:grpSpPr>
          <a:xfrm>
            <a:off x="13944600" y="6984"/>
            <a:ext cx="585194" cy="585194"/>
            <a:chOff x="0" y="0"/>
            <a:chExt cx="812800" cy="812800"/>
          </a:xfrm>
        </p:grpSpPr>
        <p:sp>
          <p:nvSpPr>
            <p:cNvPr id="16" name="Freeform 16">
              <a:extLst>
                <a:ext uri="{FF2B5EF4-FFF2-40B4-BE49-F238E27FC236}">
                  <a16:creationId xmlns:a16="http://schemas.microsoft.com/office/drawing/2014/main" id="{428B09AA-788F-4FBD-D57C-44E4E9ED0A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4038F03A-EEB4-61BC-4065-57414E81912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F296F679-AE89-C4E7-35B0-A356093436A1}"/>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
        <p:nvSpPr>
          <p:cNvPr id="4" name="Titre 3">
            <a:extLst>
              <a:ext uri="{FF2B5EF4-FFF2-40B4-BE49-F238E27FC236}">
                <a16:creationId xmlns:a16="http://schemas.microsoft.com/office/drawing/2014/main" id="{2B13B997-6DCF-D5BF-39AF-6402F3C5252B}"/>
              </a:ext>
            </a:extLst>
          </p:cNvPr>
          <p:cNvSpPr>
            <a:spLocks noGrp="1"/>
          </p:cNvSpPr>
          <p:nvPr>
            <p:ph type="ctrTitle"/>
          </p:nvPr>
        </p:nvSpPr>
        <p:spPr>
          <a:xfrm>
            <a:off x="685800" y="1173111"/>
            <a:ext cx="7772400" cy="1470025"/>
          </a:xfrm>
        </p:spPr>
        <p:txBody>
          <a:bodyPr/>
          <a:lstStyle/>
          <a:p>
            <a:r>
              <a:rPr lang="fr-FR" b="1" dirty="0">
                <a:latin typeface="Arial Black" panose="020B0A04020102020204" pitchFamily="34" charset="0"/>
              </a:rPr>
              <a:t>Moyens techniques</a:t>
            </a:r>
            <a:endParaRPr lang="fr-MG" b="1" dirty="0">
              <a:latin typeface="Arial Black" panose="020B0A04020102020204" pitchFamily="34" charset="0"/>
            </a:endParaRPr>
          </a:p>
        </p:txBody>
      </p:sp>
      <p:pic>
        <p:nvPicPr>
          <p:cNvPr id="3" name="Image 2">
            <a:extLst>
              <a:ext uri="{FF2B5EF4-FFF2-40B4-BE49-F238E27FC236}">
                <a16:creationId xmlns:a16="http://schemas.microsoft.com/office/drawing/2014/main" id="{C00DEC3B-D9CB-B6E0-BA73-2F187736E356}"/>
              </a:ext>
            </a:extLst>
          </p:cNvPr>
          <p:cNvPicPr>
            <a:picLocks noChangeAspect="1"/>
          </p:cNvPicPr>
          <p:nvPr/>
        </p:nvPicPr>
        <p:blipFill>
          <a:blip r:embed="rId3"/>
          <a:stretch>
            <a:fillRect/>
          </a:stretch>
        </p:blipFill>
        <p:spPr>
          <a:xfrm>
            <a:off x="2496563" y="2821969"/>
            <a:ext cx="12615112" cy="4643062"/>
          </a:xfrm>
          <a:prstGeom prst="rect">
            <a:avLst/>
          </a:prstGeom>
        </p:spPr>
      </p:pic>
      <p:pic>
        <p:nvPicPr>
          <p:cNvPr id="2" name="Image 1">
            <a:extLst>
              <a:ext uri="{FF2B5EF4-FFF2-40B4-BE49-F238E27FC236}">
                <a16:creationId xmlns:a16="http://schemas.microsoft.com/office/drawing/2014/main" id="{2E5C1CCD-BA4F-96FF-8626-4B1A1850FD05}"/>
              </a:ext>
            </a:extLst>
          </p:cNvPr>
          <p:cNvPicPr>
            <a:picLocks noChangeAspect="1"/>
          </p:cNvPicPr>
          <p:nvPr/>
        </p:nvPicPr>
        <p:blipFill>
          <a:blip r:embed="rId4"/>
          <a:stretch>
            <a:fillRect/>
          </a:stretch>
        </p:blipFill>
        <p:spPr>
          <a:xfrm>
            <a:off x="2443241" y="2223295"/>
            <a:ext cx="13401517" cy="6859690"/>
          </a:xfrm>
          <a:prstGeom prst="rect">
            <a:avLst/>
          </a:prstGeom>
        </p:spPr>
      </p:pic>
    </p:spTree>
    <p:extLst>
      <p:ext uri="{BB962C8B-B14F-4D97-AF65-F5344CB8AC3E}">
        <p14:creationId xmlns:p14="http://schemas.microsoft.com/office/powerpoint/2010/main" val="1937779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4559-7E15-3F55-E506-1EDB04B6CCC2}"/>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72E0EE74-9134-2C82-1026-BB5D34A1A324}"/>
              </a:ext>
            </a:extLst>
          </p:cNvPr>
          <p:cNvGrpSpPr/>
          <p:nvPr/>
        </p:nvGrpSpPr>
        <p:grpSpPr>
          <a:xfrm>
            <a:off x="1828800" y="9137521"/>
            <a:ext cx="916071" cy="916071"/>
            <a:chOff x="0" y="0"/>
            <a:chExt cx="812800" cy="812800"/>
          </a:xfrm>
        </p:grpSpPr>
        <p:sp>
          <p:nvSpPr>
            <p:cNvPr id="13" name="Freeform 13">
              <a:extLst>
                <a:ext uri="{FF2B5EF4-FFF2-40B4-BE49-F238E27FC236}">
                  <a16:creationId xmlns:a16="http://schemas.microsoft.com/office/drawing/2014/main" id="{ABC01110-EA55-FAF1-78E0-4EA3E75364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60893A86-EF16-A447-B039-51DA02A65B4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088C08EA-7B97-489B-4B09-071B3FEE5C0E}"/>
              </a:ext>
            </a:extLst>
          </p:cNvPr>
          <p:cNvGrpSpPr/>
          <p:nvPr/>
        </p:nvGrpSpPr>
        <p:grpSpPr>
          <a:xfrm>
            <a:off x="17702806" y="247258"/>
            <a:ext cx="585194" cy="585194"/>
            <a:chOff x="0" y="0"/>
            <a:chExt cx="812800" cy="812800"/>
          </a:xfrm>
        </p:grpSpPr>
        <p:sp>
          <p:nvSpPr>
            <p:cNvPr id="16" name="Freeform 16">
              <a:extLst>
                <a:ext uri="{FF2B5EF4-FFF2-40B4-BE49-F238E27FC236}">
                  <a16:creationId xmlns:a16="http://schemas.microsoft.com/office/drawing/2014/main" id="{B275D064-2163-219B-E09C-ED96E027EF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032F989D-8228-13DA-08AF-36439F5BDD0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F80FBF87-C256-4AC9-2D9A-ADD060C9FBF7}"/>
              </a:ext>
            </a:extLst>
          </p:cNvPr>
          <p:cNvSpPr txBox="1"/>
          <p:nvPr/>
        </p:nvSpPr>
        <p:spPr>
          <a:xfrm>
            <a:off x="299890" y="268195"/>
            <a:ext cx="9072709" cy="564257"/>
          </a:xfrm>
          <a:prstGeom prst="rect">
            <a:avLst/>
          </a:prstGeom>
        </p:spPr>
        <p:txBody>
          <a:bodyPr wrap="square" lIns="0" tIns="0" rIns="0" bIns="0" rtlCol="0" anchor="t">
            <a:spAutoFit/>
          </a:bodyPr>
          <a:lstStyle/>
          <a:p>
            <a:pPr>
              <a:lnSpc>
                <a:spcPts val="4433"/>
              </a:lnSpc>
            </a:pPr>
            <a:r>
              <a:rPr lang="en-US" sz="40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PRESENTATION DU PROJET</a:t>
            </a:r>
            <a:endParaRPr lang="en-US" sz="4000" b="1" spc="88" dirty="0">
              <a:latin typeface="Times New Roman" panose="02020603050405020304" pitchFamily="18" charset="0"/>
              <a:ea typeface="Montserrat Bold"/>
              <a:cs typeface="Times New Roman" panose="02020603050405020304" pitchFamily="18" charset="0"/>
              <a:sym typeface="Montserrat Bold"/>
            </a:endParaRPr>
          </a:p>
        </p:txBody>
      </p:sp>
      <p:sp>
        <p:nvSpPr>
          <p:cNvPr id="4" name="Titre 3">
            <a:extLst>
              <a:ext uri="{FF2B5EF4-FFF2-40B4-BE49-F238E27FC236}">
                <a16:creationId xmlns:a16="http://schemas.microsoft.com/office/drawing/2014/main" id="{3CCACF9E-610C-B575-5986-70C09B105440}"/>
              </a:ext>
            </a:extLst>
          </p:cNvPr>
          <p:cNvSpPr>
            <a:spLocks noGrp="1"/>
          </p:cNvSpPr>
          <p:nvPr>
            <p:ph type="ctrTitle"/>
          </p:nvPr>
        </p:nvSpPr>
        <p:spPr>
          <a:xfrm>
            <a:off x="685800" y="1173111"/>
            <a:ext cx="7772400" cy="1470025"/>
          </a:xfrm>
        </p:spPr>
        <p:txBody>
          <a:bodyPr/>
          <a:lstStyle/>
          <a:p>
            <a:r>
              <a:rPr lang="fr-FR" dirty="0">
                <a:latin typeface="Arial Black" panose="020B0A04020102020204" pitchFamily="34" charset="0"/>
              </a:rPr>
              <a:t>Résultats attendus</a:t>
            </a:r>
            <a:endParaRPr lang="fr-MG" b="1" dirty="0">
              <a:latin typeface="Arial Black" panose="020B0A04020102020204" pitchFamily="34" charset="0"/>
            </a:endParaRPr>
          </a:p>
        </p:txBody>
      </p:sp>
      <p:sp>
        <p:nvSpPr>
          <p:cNvPr id="6" name="Rectangle 1">
            <a:extLst>
              <a:ext uri="{FF2B5EF4-FFF2-40B4-BE49-F238E27FC236}">
                <a16:creationId xmlns:a16="http://schemas.microsoft.com/office/drawing/2014/main" id="{911CCB89-9D65-FB97-7A56-39F854835C6F}"/>
              </a:ext>
            </a:extLst>
          </p:cNvPr>
          <p:cNvSpPr>
            <a:spLocks noGrp="1" noChangeArrowheads="1"/>
          </p:cNvSpPr>
          <p:nvPr>
            <p:ph type="subTitle" idx="1"/>
          </p:nvPr>
        </p:nvSpPr>
        <p:spPr bwMode="auto">
          <a:xfrm>
            <a:off x="2057400" y="2643136"/>
            <a:ext cx="11927757" cy="368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200000"/>
              </a:lnSpc>
              <a:spcBef>
                <a:spcPct val="0"/>
              </a:spcBef>
              <a:spcAft>
                <a:spcPct val="0"/>
              </a:spcAft>
              <a:buFont typeface="Wingdings" panose="05000000000000000000" pitchFamily="2" charset="2"/>
              <a:buChar char="ü"/>
            </a:pPr>
            <a:r>
              <a:rPr lang="fr-FR" sz="2400" dirty="0">
                <a:solidFill>
                  <a:schemeClr val="tx1"/>
                </a:solidFill>
                <a:latin typeface="Arial Black" panose="020B0A04020102020204" pitchFamily="34" charset="0"/>
                <a:cs typeface="Arial" panose="020B0604020202020204" pitchFamily="34" charset="0"/>
              </a:rPr>
              <a:t>Application centralisée, moderne et intuitive.</a:t>
            </a:r>
          </a:p>
          <a:p>
            <a:pPr marL="342900" lvl="0" indent="-342900" algn="just" eaLnBrk="0" fontAlgn="base" hangingPunct="0">
              <a:lnSpc>
                <a:spcPct val="200000"/>
              </a:lnSpc>
              <a:spcBef>
                <a:spcPct val="0"/>
              </a:spcBef>
              <a:spcAft>
                <a:spcPct val="0"/>
              </a:spcAft>
              <a:buFont typeface="Wingdings" panose="05000000000000000000" pitchFamily="2" charset="2"/>
              <a:buChar char="ü"/>
            </a:pPr>
            <a:r>
              <a:rPr lang="fr-FR" sz="2400" dirty="0">
                <a:solidFill>
                  <a:schemeClr val="tx1"/>
                </a:solidFill>
                <a:latin typeface="Arial Black" panose="020B0A04020102020204" pitchFamily="34" charset="0"/>
                <a:cs typeface="Arial" panose="020B0604020202020204" pitchFamily="34" charset="0"/>
              </a:rPr>
              <a:t> Automatisation complète grâce à la CI/CD.</a:t>
            </a:r>
          </a:p>
          <a:p>
            <a:pPr marL="342900" lvl="0" indent="-342900" algn="just" eaLnBrk="0" fontAlgn="base" hangingPunct="0">
              <a:lnSpc>
                <a:spcPct val="200000"/>
              </a:lnSpc>
              <a:spcBef>
                <a:spcPct val="0"/>
              </a:spcBef>
              <a:spcAft>
                <a:spcPct val="0"/>
              </a:spcAft>
              <a:buFont typeface="Wingdings" panose="05000000000000000000" pitchFamily="2" charset="2"/>
              <a:buChar char="ü"/>
            </a:pPr>
            <a:r>
              <a:rPr lang="fr-FR" sz="2400" dirty="0">
                <a:solidFill>
                  <a:schemeClr val="tx1"/>
                </a:solidFill>
                <a:latin typeface="Arial Black" panose="020B0A04020102020204" pitchFamily="34" charset="0"/>
                <a:cs typeface="Arial" panose="020B0604020202020204" pitchFamily="34" charset="0"/>
              </a:rPr>
              <a:t> Données plus fiables, sécurisées et accessibles.</a:t>
            </a:r>
          </a:p>
          <a:p>
            <a:pPr marL="342900" lvl="0" indent="-342900" algn="just" eaLnBrk="0" fontAlgn="base" hangingPunct="0">
              <a:lnSpc>
                <a:spcPct val="200000"/>
              </a:lnSpc>
              <a:spcBef>
                <a:spcPct val="0"/>
              </a:spcBef>
              <a:spcAft>
                <a:spcPct val="0"/>
              </a:spcAft>
              <a:buFont typeface="Wingdings" panose="05000000000000000000" pitchFamily="2" charset="2"/>
              <a:buChar char="ü"/>
            </a:pPr>
            <a:r>
              <a:rPr lang="fr-FR" sz="2400" dirty="0">
                <a:solidFill>
                  <a:schemeClr val="tx1"/>
                </a:solidFill>
                <a:latin typeface="Arial Black" panose="020B0A04020102020204" pitchFamily="34" charset="0"/>
                <a:cs typeface="Arial" panose="020B0604020202020204" pitchFamily="34" charset="0"/>
              </a:rPr>
              <a:t> Amélioration du suivi, de l’efficacité et de la productivité du SMIE.</a:t>
            </a:r>
          </a:p>
          <a:p>
            <a:pPr marL="342900" lvl="0" indent="-342900" algn="just" eaLnBrk="0" fontAlgn="base" hangingPunct="0">
              <a:lnSpc>
                <a:spcPct val="200000"/>
              </a:lnSpc>
              <a:spcBef>
                <a:spcPct val="0"/>
              </a:spcBef>
              <a:spcAft>
                <a:spcPct val="0"/>
              </a:spcAft>
              <a:buFont typeface="Wingdings" panose="05000000000000000000" pitchFamily="2" charset="2"/>
              <a:buChar char="ü"/>
            </a:pPr>
            <a:r>
              <a:rPr lang="fr-FR" sz="2400" dirty="0">
                <a:solidFill>
                  <a:schemeClr val="tx1"/>
                </a:solidFill>
                <a:latin typeface="Arial Black" panose="020B0A04020102020204" pitchFamily="34" charset="0"/>
                <a:cs typeface="Arial" panose="020B0604020202020204" pitchFamily="34" charset="0"/>
              </a:rPr>
              <a:t> Système évolutif et facile à maintenir.</a:t>
            </a:r>
          </a:p>
        </p:txBody>
      </p:sp>
    </p:spTree>
    <p:extLst>
      <p:ext uri="{BB962C8B-B14F-4D97-AF65-F5344CB8AC3E}">
        <p14:creationId xmlns:p14="http://schemas.microsoft.com/office/powerpoint/2010/main" val="769265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5BC9-4680-CD93-BEE2-6D17FA632B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D6CC6C-F888-8E10-881A-4C6A179BABCB}"/>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C1CC204D-7804-7A4C-F7C4-5A515EBCAD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642CE861-61AB-3C00-2CD3-EBBF2C2F8F1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2A33BE75-D555-1345-2079-BA3FF528871A}"/>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F4E122F8-C702-9D8A-71B2-73F781F410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C1F7DDA9-9740-5003-639D-2BED5AE4832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55B14350-09C0-4FD8-50EA-801808F74CDE}"/>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7852FCD7-0133-BB91-B98B-420BE6B290C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E562C75B-08AA-5C6D-2F25-83573563DE4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BA87C876-72F1-BD4E-EC36-F6E389435129}"/>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6E3531EA-BA0B-9E5D-6CA9-C51E659D6F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29B0D42A-0A1E-54AE-29FF-DDB6B4A10EB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825669FA-C7B3-5E46-A4B2-A976D2AEEF6A}"/>
              </a:ext>
            </a:extLst>
          </p:cNvPr>
          <p:cNvSpPr>
            <a:spLocks noGrp="1"/>
          </p:cNvSpPr>
          <p:nvPr/>
        </p:nvSpPr>
        <p:spPr>
          <a:xfrm>
            <a:off x="4038601" y="4165696"/>
            <a:ext cx="10410896"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ANALYSE ET CHOIX DES OUTILS</a:t>
            </a:r>
          </a:p>
        </p:txBody>
      </p:sp>
    </p:spTree>
    <p:extLst>
      <p:ext uri="{BB962C8B-B14F-4D97-AF65-F5344CB8AC3E}">
        <p14:creationId xmlns:p14="http://schemas.microsoft.com/office/powerpoint/2010/main" val="298864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03F21-7D63-1E5B-D7E8-5F070D6E80B1}"/>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B7522B1A-B368-9316-D1AB-60905BE80D87}"/>
              </a:ext>
            </a:extLst>
          </p:cNvPr>
          <p:cNvGrpSpPr/>
          <p:nvPr/>
        </p:nvGrpSpPr>
        <p:grpSpPr>
          <a:xfrm>
            <a:off x="-230271" y="9715500"/>
            <a:ext cx="916071" cy="916071"/>
            <a:chOff x="0" y="0"/>
            <a:chExt cx="812800" cy="812800"/>
          </a:xfrm>
        </p:grpSpPr>
        <p:sp>
          <p:nvSpPr>
            <p:cNvPr id="13" name="Freeform 13">
              <a:extLst>
                <a:ext uri="{FF2B5EF4-FFF2-40B4-BE49-F238E27FC236}">
                  <a16:creationId xmlns:a16="http://schemas.microsoft.com/office/drawing/2014/main" id="{0537D031-73BE-CCFF-C8F1-9D66D55386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9177B1B3-B0BD-C3AD-52DB-BFACA727081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CF3C2EC5-664C-66DB-B3BA-542C8442CBB4}"/>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B03C7AE2-99D2-9379-7B93-30AC784B0F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EDE818FB-5545-AE25-400B-491DC5E771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pic>
        <p:nvPicPr>
          <p:cNvPr id="3" name="Image 2">
            <a:extLst>
              <a:ext uri="{FF2B5EF4-FFF2-40B4-BE49-F238E27FC236}">
                <a16:creationId xmlns:a16="http://schemas.microsoft.com/office/drawing/2014/main" id="{F54B5F30-EF6B-FCFE-C5EA-F3E186B703BA}"/>
              </a:ext>
            </a:extLst>
          </p:cNvPr>
          <p:cNvPicPr>
            <a:picLocks noChangeAspect="1"/>
          </p:cNvPicPr>
          <p:nvPr/>
        </p:nvPicPr>
        <p:blipFill>
          <a:blip r:embed="rId3"/>
          <a:stretch>
            <a:fillRect/>
          </a:stretch>
        </p:blipFill>
        <p:spPr>
          <a:xfrm>
            <a:off x="599919" y="1728352"/>
            <a:ext cx="15360419" cy="7291851"/>
          </a:xfrm>
          <a:prstGeom prst="rect">
            <a:avLst/>
          </a:prstGeom>
        </p:spPr>
      </p:pic>
      <p:sp>
        <p:nvSpPr>
          <p:cNvPr id="4" name="PlaceHolder 1">
            <a:extLst>
              <a:ext uri="{FF2B5EF4-FFF2-40B4-BE49-F238E27FC236}">
                <a16:creationId xmlns:a16="http://schemas.microsoft.com/office/drawing/2014/main" id="{D824FC4C-703D-6DFD-E455-E09699806E27}"/>
              </a:ext>
            </a:extLst>
          </p:cNvPr>
          <p:cNvSpPr>
            <a:spLocks noGrp="1"/>
          </p:cNvSpPr>
          <p:nvPr/>
        </p:nvSpPr>
        <p:spPr>
          <a:xfrm>
            <a:off x="948990" y="800100"/>
            <a:ext cx="5809619"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ANALYSE</a:t>
            </a:r>
          </a:p>
        </p:txBody>
      </p:sp>
    </p:spTree>
    <p:extLst>
      <p:ext uri="{BB962C8B-B14F-4D97-AF65-F5344CB8AC3E}">
        <p14:creationId xmlns:p14="http://schemas.microsoft.com/office/powerpoint/2010/main" val="3825484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C69FC82-5BDF-D63A-D08B-A6414CE2DB1C}"/>
              </a:ext>
            </a:extLst>
          </p:cNvPr>
          <p:cNvPicPr>
            <a:picLocks noChangeAspect="1"/>
          </p:cNvPicPr>
          <p:nvPr/>
        </p:nvPicPr>
        <p:blipFill>
          <a:blip r:embed="rId3"/>
          <a:stretch>
            <a:fillRect/>
          </a:stretch>
        </p:blipFill>
        <p:spPr>
          <a:xfrm>
            <a:off x="554020" y="1714500"/>
            <a:ext cx="17179959" cy="8305800"/>
          </a:xfrm>
          <a:prstGeom prst="rect">
            <a:avLst/>
          </a:prstGeom>
        </p:spPr>
      </p:pic>
      <p:sp>
        <p:nvSpPr>
          <p:cNvPr id="4" name="PlaceHolder 1">
            <a:extLst>
              <a:ext uri="{FF2B5EF4-FFF2-40B4-BE49-F238E27FC236}">
                <a16:creationId xmlns:a16="http://schemas.microsoft.com/office/drawing/2014/main" id="{4D2967FE-AA4F-9C13-6070-BE5F950D82B3}"/>
              </a:ext>
            </a:extLst>
          </p:cNvPr>
          <p:cNvSpPr>
            <a:spLocks noGrp="1"/>
          </p:cNvSpPr>
          <p:nvPr/>
        </p:nvSpPr>
        <p:spPr>
          <a:xfrm>
            <a:off x="948990" y="800100"/>
            <a:ext cx="5809619"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ANALYSE</a:t>
            </a:r>
          </a:p>
        </p:txBody>
      </p:sp>
    </p:spTree>
    <p:extLst>
      <p:ext uri="{BB962C8B-B14F-4D97-AF65-F5344CB8AC3E}">
        <p14:creationId xmlns:p14="http://schemas.microsoft.com/office/powerpoint/2010/main" val="790136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1">
            <a:extLst>
              <a:ext uri="{FF2B5EF4-FFF2-40B4-BE49-F238E27FC236}">
                <a16:creationId xmlns:a16="http://schemas.microsoft.com/office/drawing/2014/main" id="{010493CA-B708-AA40-A894-E597A83D45A5}"/>
              </a:ext>
            </a:extLst>
          </p:cNvPr>
          <p:cNvSpPr>
            <a:spLocks noGrp="1"/>
          </p:cNvSpPr>
          <p:nvPr/>
        </p:nvSpPr>
        <p:spPr>
          <a:xfrm>
            <a:off x="948990" y="800100"/>
            <a:ext cx="83474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spTree>
    <p:extLst>
      <p:ext uri="{BB962C8B-B14F-4D97-AF65-F5344CB8AC3E}">
        <p14:creationId xmlns:p14="http://schemas.microsoft.com/office/powerpoint/2010/main" val="217989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8203-F475-A1E5-0822-E67A357A7696}"/>
            </a:ext>
          </a:extLst>
        </p:cNvPr>
        <p:cNvGrpSpPr/>
        <p:nvPr/>
      </p:nvGrpSpPr>
      <p:grpSpPr>
        <a:xfrm>
          <a:off x="0" y="0"/>
          <a:ext cx="0" cy="0"/>
          <a:chOff x="0" y="0"/>
          <a:chExt cx="0" cy="0"/>
        </a:xfrm>
      </p:grpSpPr>
      <p:sp>
        <p:nvSpPr>
          <p:cNvPr id="4" name="PlaceHolder 1">
            <a:extLst>
              <a:ext uri="{FF2B5EF4-FFF2-40B4-BE49-F238E27FC236}">
                <a16:creationId xmlns:a16="http://schemas.microsoft.com/office/drawing/2014/main" id="{681E9BAD-B229-159A-911F-68B1666B2D77}"/>
              </a:ext>
            </a:extLst>
          </p:cNvPr>
          <p:cNvSpPr>
            <a:spLocks noGrp="1"/>
          </p:cNvSpPr>
          <p:nvPr/>
        </p:nvSpPr>
        <p:spPr>
          <a:xfrm>
            <a:off x="948990" y="800100"/>
            <a:ext cx="83474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pic>
        <p:nvPicPr>
          <p:cNvPr id="6" name="Image 5">
            <a:extLst>
              <a:ext uri="{FF2B5EF4-FFF2-40B4-BE49-F238E27FC236}">
                <a16:creationId xmlns:a16="http://schemas.microsoft.com/office/drawing/2014/main" id="{82B30CEB-CCE1-16EB-752C-6B1F9D58157E}"/>
              </a:ext>
            </a:extLst>
          </p:cNvPr>
          <p:cNvPicPr>
            <a:picLocks noChangeAspect="1"/>
          </p:cNvPicPr>
          <p:nvPr/>
        </p:nvPicPr>
        <p:blipFill>
          <a:blip r:embed="rId3"/>
          <a:stretch>
            <a:fillRect/>
          </a:stretch>
        </p:blipFill>
        <p:spPr>
          <a:xfrm>
            <a:off x="1219200" y="1866900"/>
            <a:ext cx="13507239" cy="5889521"/>
          </a:xfrm>
          <a:prstGeom prst="rect">
            <a:avLst/>
          </a:prstGeom>
        </p:spPr>
      </p:pic>
    </p:spTree>
    <p:extLst>
      <p:ext uri="{BB962C8B-B14F-4D97-AF65-F5344CB8AC3E}">
        <p14:creationId xmlns:p14="http://schemas.microsoft.com/office/powerpoint/2010/main" val="103054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a:extLst>
              <a:ext uri="{FF2B5EF4-FFF2-40B4-BE49-F238E27FC236}">
                <a16:creationId xmlns:a16="http://schemas.microsoft.com/office/drawing/2014/main" id="{718B2FA7-1128-D9ED-7A48-11120753E3CA}"/>
              </a:ext>
            </a:extLst>
          </p:cNvPr>
          <p:cNvSpPr>
            <a:spLocks noGrp="1"/>
          </p:cNvSpPr>
          <p:nvPr/>
        </p:nvSpPr>
        <p:spPr>
          <a:xfrm>
            <a:off x="948990" y="800100"/>
            <a:ext cx="81950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pic>
        <p:nvPicPr>
          <p:cNvPr id="7" name="Image 6">
            <a:extLst>
              <a:ext uri="{FF2B5EF4-FFF2-40B4-BE49-F238E27FC236}">
                <a16:creationId xmlns:a16="http://schemas.microsoft.com/office/drawing/2014/main" id="{53566DCD-DB91-F20E-848F-DB4382BBAF2C}"/>
              </a:ext>
            </a:extLst>
          </p:cNvPr>
          <p:cNvPicPr>
            <a:picLocks noChangeAspect="1"/>
          </p:cNvPicPr>
          <p:nvPr/>
        </p:nvPicPr>
        <p:blipFill>
          <a:blip r:embed="rId2"/>
          <a:stretch>
            <a:fillRect/>
          </a:stretch>
        </p:blipFill>
        <p:spPr>
          <a:xfrm>
            <a:off x="1162530" y="2171700"/>
            <a:ext cx="16413559" cy="5181866"/>
          </a:xfrm>
          <a:prstGeom prst="rect">
            <a:avLst/>
          </a:prstGeom>
        </p:spPr>
      </p:pic>
      <p:pic>
        <p:nvPicPr>
          <p:cNvPr id="9" name="Image 8">
            <a:extLst>
              <a:ext uri="{FF2B5EF4-FFF2-40B4-BE49-F238E27FC236}">
                <a16:creationId xmlns:a16="http://schemas.microsoft.com/office/drawing/2014/main" id="{CBFD50F7-A5EF-20ED-D1BD-9BB7CBD7B91A}"/>
              </a:ext>
            </a:extLst>
          </p:cNvPr>
          <p:cNvPicPr>
            <a:picLocks noChangeAspect="1"/>
          </p:cNvPicPr>
          <p:nvPr/>
        </p:nvPicPr>
        <p:blipFill>
          <a:blip r:embed="rId2"/>
          <a:srcRect t="70004" r="72853" b="19997"/>
          <a:stretch>
            <a:fillRect/>
          </a:stretch>
        </p:blipFill>
        <p:spPr>
          <a:xfrm>
            <a:off x="1295400" y="2476500"/>
            <a:ext cx="3931920" cy="457200"/>
          </a:xfrm>
          <a:prstGeom prst="rect">
            <a:avLst/>
          </a:prstGeom>
        </p:spPr>
      </p:pic>
    </p:spTree>
    <p:extLst>
      <p:ext uri="{BB962C8B-B14F-4D97-AF65-F5344CB8AC3E}">
        <p14:creationId xmlns:p14="http://schemas.microsoft.com/office/powerpoint/2010/main" val="1316707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a:extLst>
              <a:ext uri="{FF2B5EF4-FFF2-40B4-BE49-F238E27FC236}">
                <a16:creationId xmlns:a16="http://schemas.microsoft.com/office/drawing/2014/main" id="{7DA18738-8F81-2F60-1B49-14DC7C9B82DB}"/>
              </a:ext>
            </a:extLst>
          </p:cNvPr>
          <p:cNvSpPr>
            <a:spLocks noGrp="1"/>
          </p:cNvSpPr>
          <p:nvPr/>
        </p:nvSpPr>
        <p:spPr>
          <a:xfrm>
            <a:off x="948990" y="800100"/>
            <a:ext cx="77378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pic>
        <p:nvPicPr>
          <p:cNvPr id="7" name="Image 6">
            <a:extLst>
              <a:ext uri="{FF2B5EF4-FFF2-40B4-BE49-F238E27FC236}">
                <a16:creationId xmlns:a16="http://schemas.microsoft.com/office/drawing/2014/main" id="{11A674D4-C492-18A8-1A01-1323AEF22421}"/>
              </a:ext>
            </a:extLst>
          </p:cNvPr>
          <p:cNvPicPr>
            <a:picLocks noChangeAspect="1"/>
          </p:cNvPicPr>
          <p:nvPr/>
        </p:nvPicPr>
        <p:blipFill>
          <a:blip r:embed="rId3"/>
          <a:stretch>
            <a:fillRect/>
          </a:stretch>
        </p:blipFill>
        <p:spPr>
          <a:xfrm>
            <a:off x="4572000" y="2324100"/>
            <a:ext cx="12365176" cy="6411220"/>
          </a:xfrm>
          <a:prstGeom prst="rect">
            <a:avLst/>
          </a:prstGeom>
        </p:spPr>
      </p:pic>
      <p:sp>
        <p:nvSpPr>
          <p:cNvPr id="8" name="ZoneTexte 7">
            <a:extLst>
              <a:ext uri="{FF2B5EF4-FFF2-40B4-BE49-F238E27FC236}">
                <a16:creationId xmlns:a16="http://schemas.microsoft.com/office/drawing/2014/main" id="{A6771164-AB14-332C-4109-BEA24343ED69}"/>
              </a:ext>
            </a:extLst>
          </p:cNvPr>
          <p:cNvSpPr txBox="1"/>
          <p:nvPr/>
        </p:nvSpPr>
        <p:spPr>
          <a:xfrm>
            <a:off x="1350824" y="5329655"/>
            <a:ext cx="2971800" cy="400110"/>
          </a:xfrm>
          <a:prstGeom prst="rect">
            <a:avLst/>
          </a:prstGeom>
          <a:noFill/>
        </p:spPr>
        <p:txBody>
          <a:bodyPr wrap="square" rtlCol="0">
            <a:spAutoFit/>
          </a:bodyPr>
          <a:lstStyle/>
          <a:p>
            <a:r>
              <a:rPr lang="fr-FR" sz="2000" dirty="0">
                <a:latin typeface="Arial Black" panose="020B0A04020102020204" pitchFamily="34" charset="0"/>
              </a:rPr>
              <a:t>Docker a été choisi</a:t>
            </a:r>
            <a:endParaRPr lang="fr-MG" sz="2000" dirty="0">
              <a:latin typeface="Arial Black" panose="020B0A04020102020204" pitchFamily="34" charset="0"/>
            </a:endParaRPr>
          </a:p>
        </p:txBody>
      </p:sp>
      <p:pic>
        <p:nvPicPr>
          <p:cNvPr id="10" name="Image 9">
            <a:extLst>
              <a:ext uri="{FF2B5EF4-FFF2-40B4-BE49-F238E27FC236}">
                <a16:creationId xmlns:a16="http://schemas.microsoft.com/office/drawing/2014/main" id="{51F30741-8538-E0AD-393A-61D02CA9BF1C}"/>
              </a:ext>
            </a:extLst>
          </p:cNvPr>
          <p:cNvPicPr>
            <a:picLocks noChangeAspect="1"/>
          </p:cNvPicPr>
          <p:nvPr/>
        </p:nvPicPr>
        <p:blipFill>
          <a:blip r:embed="rId4"/>
          <a:stretch>
            <a:fillRect/>
          </a:stretch>
        </p:blipFill>
        <p:spPr>
          <a:xfrm>
            <a:off x="1655459" y="3856223"/>
            <a:ext cx="2362530" cy="1143160"/>
          </a:xfrm>
          <a:prstGeom prst="rect">
            <a:avLst/>
          </a:prstGeom>
        </p:spPr>
      </p:pic>
    </p:spTree>
    <p:extLst>
      <p:ext uri="{BB962C8B-B14F-4D97-AF65-F5344CB8AC3E}">
        <p14:creationId xmlns:p14="http://schemas.microsoft.com/office/powerpoint/2010/main" val="967041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93B4C-171F-1491-C3ED-31D1798D5E2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28F9005-738D-E289-114D-505683921D5F}"/>
              </a:ext>
            </a:extLst>
          </p:cNvPr>
          <p:cNvPicPr>
            <a:picLocks noChangeAspect="1"/>
          </p:cNvPicPr>
          <p:nvPr/>
        </p:nvPicPr>
        <p:blipFill>
          <a:blip r:embed="rId3"/>
          <a:stretch>
            <a:fillRect/>
          </a:stretch>
        </p:blipFill>
        <p:spPr>
          <a:xfrm>
            <a:off x="2727720" y="2019300"/>
            <a:ext cx="12832560" cy="6858783"/>
          </a:xfrm>
          <a:prstGeom prst="rect">
            <a:avLst/>
          </a:prstGeom>
        </p:spPr>
      </p:pic>
      <p:sp>
        <p:nvSpPr>
          <p:cNvPr id="5" name="PlaceHolder 1">
            <a:extLst>
              <a:ext uri="{FF2B5EF4-FFF2-40B4-BE49-F238E27FC236}">
                <a16:creationId xmlns:a16="http://schemas.microsoft.com/office/drawing/2014/main" id="{4729CDED-1775-625B-817B-4CAA5C189779}"/>
              </a:ext>
            </a:extLst>
          </p:cNvPr>
          <p:cNvSpPr>
            <a:spLocks noGrp="1"/>
          </p:cNvSpPr>
          <p:nvPr/>
        </p:nvSpPr>
        <p:spPr>
          <a:xfrm>
            <a:off x="948990" y="800100"/>
            <a:ext cx="77378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spTree>
    <p:extLst>
      <p:ext uri="{BB962C8B-B14F-4D97-AF65-F5344CB8AC3E}">
        <p14:creationId xmlns:p14="http://schemas.microsoft.com/office/powerpoint/2010/main" val="1862020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21D3E-4A52-C4FB-BA78-5546A0B5AA89}"/>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910854A9-3744-D783-C6B0-B14947ADB148}"/>
              </a:ext>
            </a:extLst>
          </p:cNvPr>
          <p:cNvPicPr>
            <a:picLocks noChangeAspect="1"/>
          </p:cNvPicPr>
          <p:nvPr/>
        </p:nvPicPr>
        <p:blipFill>
          <a:blip r:embed="rId3"/>
          <a:stretch>
            <a:fillRect/>
          </a:stretch>
        </p:blipFill>
        <p:spPr>
          <a:xfrm>
            <a:off x="1943100" y="1638300"/>
            <a:ext cx="14401800" cy="8051571"/>
          </a:xfrm>
          <a:prstGeom prst="rect">
            <a:avLst/>
          </a:prstGeom>
        </p:spPr>
      </p:pic>
      <p:sp>
        <p:nvSpPr>
          <p:cNvPr id="6" name="PlaceHolder 1">
            <a:extLst>
              <a:ext uri="{FF2B5EF4-FFF2-40B4-BE49-F238E27FC236}">
                <a16:creationId xmlns:a16="http://schemas.microsoft.com/office/drawing/2014/main" id="{11CA4486-C841-AF20-3834-048093FD9E80}"/>
              </a:ext>
            </a:extLst>
          </p:cNvPr>
          <p:cNvSpPr>
            <a:spLocks noGrp="1"/>
          </p:cNvSpPr>
          <p:nvPr/>
        </p:nvSpPr>
        <p:spPr>
          <a:xfrm>
            <a:off x="948990" y="800100"/>
            <a:ext cx="6594810" cy="609600"/>
          </a:xfrm>
          <a:prstGeom prst="rect">
            <a:avLst/>
          </a:prstGeom>
          <a:noFill/>
          <a:ln w="0">
            <a:noFill/>
          </a:ln>
        </p:spPr>
        <p:txBody>
          <a:bodyPr lIns="91440" tIns="91440" rIns="91440" bIns="9144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32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CHOIX DES OUTILS CHOISIS</a:t>
            </a:r>
          </a:p>
        </p:txBody>
      </p:sp>
    </p:spTree>
    <p:extLst>
      <p:ext uri="{BB962C8B-B14F-4D97-AF65-F5344CB8AC3E}">
        <p14:creationId xmlns:p14="http://schemas.microsoft.com/office/powerpoint/2010/main" val="4232133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1119632-C3DB-1E0F-D759-5BDCA8CDD582}"/>
              </a:ext>
            </a:extLst>
          </p:cNvPr>
          <p:cNvPicPr>
            <a:picLocks noChangeAspect="1"/>
          </p:cNvPicPr>
          <p:nvPr/>
        </p:nvPicPr>
        <p:blipFill>
          <a:blip r:embed="rId2"/>
          <a:stretch>
            <a:fillRect/>
          </a:stretch>
        </p:blipFill>
        <p:spPr>
          <a:xfrm>
            <a:off x="1028700" y="768509"/>
            <a:ext cx="16230600" cy="8749982"/>
          </a:xfrm>
          <a:prstGeom prst="rect">
            <a:avLst/>
          </a:prstGeom>
        </p:spPr>
      </p:pic>
    </p:spTree>
    <p:extLst>
      <p:ext uri="{BB962C8B-B14F-4D97-AF65-F5344CB8AC3E}">
        <p14:creationId xmlns:p14="http://schemas.microsoft.com/office/powerpoint/2010/main" val="3241494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95907-8B86-C7A4-D32B-9EEA81F2D7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A61ADBA-478A-2F89-BCDC-3807373886B7}"/>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A5B1F521-395C-6441-5CAB-5F0D0BC8D8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35A0FC36-5283-F95E-2DE6-8C9EEDA2FA1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481CF0A9-8335-2496-10D7-4057296A92B3}"/>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ECB027A2-4667-1662-02C9-A4746EFE5C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DA5CF97F-71D0-6731-F48F-1730BDA7CFF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6BDC875E-51DA-0E2C-3047-CD371DB16CDE}"/>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E7A84021-D89E-DDBF-8A27-E1B81C3AA3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D6B90839-42EB-C61D-3B25-F20B87DE16F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A5555CC9-978B-F2C4-459F-D491F41F25BA}"/>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A7A58E57-50CD-6DC2-3955-1FDDCF3978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E7D294C9-ACE2-B6FB-3FC8-F91FB4DB089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40FEFD1E-F8C1-623D-D6FD-2AF370C2BF91}"/>
              </a:ext>
            </a:extLst>
          </p:cNvPr>
          <p:cNvSpPr>
            <a:spLocks noGrp="1"/>
          </p:cNvSpPr>
          <p:nvPr/>
        </p:nvSpPr>
        <p:spPr>
          <a:xfrm>
            <a:off x="6305990" y="4134983"/>
            <a:ext cx="7239000"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DEMONSTRATION</a:t>
            </a:r>
          </a:p>
        </p:txBody>
      </p:sp>
    </p:spTree>
    <p:extLst>
      <p:ext uri="{BB962C8B-B14F-4D97-AF65-F5344CB8AC3E}">
        <p14:creationId xmlns:p14="http://schemas.microsoft.com/office/powerpoint/2010/main" val="3644917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0265E-9A81-6E23-E1F8-3C3E79B016B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05F1FAD-7579-054C-2BD1-D6ED7BD3043A}"/>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EA335D56-B403-863C-4A71-7A4BB67262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C3105BAC-5BE5-C4B7-90C9-0F34BD51F3E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49BBAD6C-9E6A-2D2E-B13F-8BB995BA4AC7}"/>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8FB4F5A0-5A3F-2E74-2625-6A77F20C79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149C58A5-0D2C-E783-42C6-5F4EADC968C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ABB327D2-F4A6-D717-3A43-E6864E7062FA}"/>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4511CFC4-F42C-3156-2C17-BCA2621F8D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484AFC3F-1F51-B635-20AE-3A4E64214E4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746BB30B-C284-CC69-D9BF-D12501F4CF19}"/>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44E9026B-B042-2F5B-AB17-9646067289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76451C7B-AF9B-358B-4062-02DB62F09B9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ACB9A95B-36BB-913A-6D68-9586C2EA346B}"/>
              </a:ext>
            </a:extLst>
          </p:cNvPr>
          <p:cNvSpPr>
            <a:spLocks noGrp="1"/>
          </p:cNvSpPr>
          <p:nvPr/>
        </p:nvSpPr>
        <p:spPr>
          <a:xfrm>
            <a:off x="6408810" y="1030357"/>
            <a:ext cx="7239000"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CONCLUSION</a:t>
            </a:r>
          </a:p>
        </p:txBody>
      </p:sp>
      <p:sp>
        <p:nvSpPr>
          <p:cNvPr id="22" name="PlaceHolder 2">
            <a:extLst>
              <a:ext uri="{FF2B5EF4-FFF2-40B4-BE49-F238E27FC236}">
                <a16:creationId xmlns:a16="http://schemas.microsoft.com/office/drawing/2014/main" id="{1ACF0004-6CA2-408D-D899-4825577A8030}"/>
              </a:ext>
            </a:extLst>
          </p:cNvPr>
          <p:cNvSpPr txBox="1">
            <a:spLocks/>
          </p:cNvSpPr>
          <p:nvPr/>
        </p:nvSpPr>
        <p:spPr>
          <a:xfrm>
            <a:off x="4210657" y="1866899"/>
            <a:ext cx="9437153" cy="6475329"/>
          </a:xfrm>
          <a:prstGeom prst="rect">
            <a:avLst/>
          </a:prstGeom>
          <a:noFill/>
          <a:ln w="0">
            <a:noFill/>
          </a:ln>
        </p:spPr>
        <p:txBody>
          <a:bodyPr lIns="91440" tIns="91440" rIns="91440" bIns="91440"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fr-FR" dirty="0">
                <a:latin typeface="Times New Roman" panose="02020603050405020304" pitchFamily="18" charset="0"/>
                <a:cs typeface="Times New Roman" panose="02020603050405020304" pitchFamily="18" charset="0"/>
              </a:rPr>
              <a:t>	</a:t>
            </a:r>
            <a:r>
              <a:rPr lang="fr-FR" dirty="0"/>
              <a:t>Cette étude démontre que la modernisation du système d’information du SMIE, fondée sur l’automatisation, la containerisation et les pratiques DevOps, constitue un levier essentiel pour améliorer durablement la qualité logicielle, la performance opérationnelle et la capacité d’adaptation de l’organisation face aux évolutions technologiques.</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4323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4B39-8A99-CC13-6EEB-CDACE03ADE9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CCE7CE-2105-D482-556E-16D244DA47CA}"/>
              </a:ext>
            </a:extLst>
          </p:cNvPr>
          <p:cNvGrpSpPr/>
          <p:nvPr/>
        </p:nvGrpSpPr>
        <p:grpSpPr>
          <a:xfrm>
            <a:off x="3072193" y="-928307"/>
            <a:ext cx="12143613" cy="12143613"/>
            <a:chOff x="0" y="0"/>
            <a:chExt cx="812800" cy="812800"/>
          </a:xfrm>
        </p:grpSpPr>
        <p:sp>
          <p:nvSpPr>
            <p:cNvPr id="3" name="Freeform 3">
              <a:extLst>
                <a:ext uri="{FF2B5EF4-FFF2-40B4-BE49-F238E27FC236}">
                  <a16:creationId xmlns:a16="http://schemas.microsoft.com/office/drawing/2014/main" id="{8B0042D5-F164-9AC1-86D2-41A5F24151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 cap="sq">
              <a:gradFill>
                <a:gsLst>
                  <a:gs pos="0">
                    <a:srgbClr val="1119C2">
                      <a:alpha val="100000"/>
                    </a:srgbClr>
                  </a:gs>
                  <a:gs pos="100000">
                    <a:srgbClr val="2932FF">
                      <a:alpha val="100000"/>
                    </a:srgbClr>
                  </a:gs>
                </a:gsLst>
                <a:lin ang="0"/>
              </a:gradFill>
              <a:prstDash val="solid"/>
              <a:miter/>
            </a:ln>
          </p:spPr>
        </p:sp>
        <p:sp>
          <p:nvSpPr>
            <p:cNvPr id="4" name="TextBox 4">
              <a:extLst>
                <a:ext uri="{FF2B5EF4-FFF2-40B4-BE49-F238E27FC236}">
                  <a16:creationId xmlns:a16="http://schemas.microsoft.com/office/drawing/2014/main" id="{3BAA5BF5-81CA-88CC-40F3-6B4F9CA61F2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5" name="Group 5">
            <a:extLst>
              <a:ext uri="{FF2B5EF4-FFF2-40B4-BE49-F238E27FC236}">
                <a16:creationId xmlns:a16="http://schemas.microsoft.com/office/drawing/2014/main" id="{C8E3F897-28BD-068D-69F7-CD13399865F1}"/>
              </a:ext>
            </a:extLst>
          </p:cNvPr>
          <p:cNvGrpSpPr/>
          <p:nvPr/>
        </p:nvGrpSpPr>
        <p:grpSpPr>
          <a:xfrm>
            <a:off x="3727395" y="-273105"/>
            <a:ext cx="10833209" cy="10833209"/>
            <a:chOff x="0" y="0"/>
            <a:chExt cx="812800" cy="812800"/>
          </a:xfrm>
        </p:grpSpPr>
        <p:sp>
          <p:nvSpPr>
            <p:cNvPr id="6" name="Freeform 6">
              <a:extLst>
                <a:ext uri="{FF2B5EF4-FFF2-40B4-BE49-F238E27FC236}">
                  <a16:creationId xmlns:a16="http://schemas.microsoft.com/office/drawing/2014/main" id="{FE73233A-00AE-FBE3-F093-CD264E38E7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F6"/>
            </a:solidFill>
          </p:spPr>
        </p:sp>
        <p:sp>
          <p:nvSpPr>
            <p:cNvPr id="7" name="TextBox 7">
              <a:extLst>
                <a:ext uri="{FF2B5EF4-FFF2-40B4-BE49-F238E27FC236}">
                  <a16:creationId xmlns:a16="http://schemas.microsoft.com/office/drawing/2014/main" id="{D08B8615-81EF-3C85-215C-1AF6021C834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236AABB7-B918-1E2A-F4FF-DB818ED33E35}"/>
              </a:ext>
            </a:extLst>
          </p:cNvPr>
          <p:cNvGrpSpPr/>
          <p:nvPr/>
        </p:nvGrpSpPr>
        <p:grpSpPr>
          <a:xfrm>
            <a:off x="2614158" y="8342229"/>
            <a:ext cx="916071" cy="916071"/>
            <a:chOff x="0" y="0"/>
            <a:chExt cx="812800" cy="812800"/>
          </a:xfrm>
        </p:grpSpPr>
        <p:sp>
          <p:nvSpPr>
            <p:cNvPr id="13" name="Freeform 13">
              <a:extLst>
                <a:ext uri="{FF2B5EF4-FFF2-40B4-BE49-F238E27FC236}">
                  <a16:creationId xmlns:a16="http://schemas.microsoft.com/office/drawing/2014/main" id="{3468B366-D0F8-F9CC-1505-B86A775BBB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4" name="TextBox 14">
              <a:extLst>
                <a:ext uri="{FF2B5EF4-FFF2-40B4-BE49-F238E27FC236}">
                  <a16:creationId xmlns:a16="http://schemas.microsoft.com/office/drawing/2014/main" id="{1340D7F6-ACDE-68F7-E8A6-6772FFA94C5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5" name="Group 15">
            <a:extLst>
              <a:ext uri="{FF2B5EF4-FFF2-40B4-BE49-F238E27FC236}">
                <a16:creationId xmlns:a16="http://schemas.microsoft.com/office/drawing/2014/main" id="{ED94FACB-FED5-92CB-02A1-B54E13182FA3}"/>
              </a:ext>
            </a:extLst>
          </p:cNvPr>
          <p:cNvGrpSpPr/>
          <p:nvPr/>
        </p:nvGrpSpPr>
        <p:grpSpPr>
          <a:xfrm>
            <a:off x="13975411" y="443506"/>
            <a:ext cx="585194" cy="585194"/>
            <a:chOff x="0" y="0"/>
            <a:chExt cx="812800" cy="812800"/>
          </a:xfrm>
        </p:grpSpPr>
        <p:sp>
          <p:nvSpPr>
            <p:cNvPr id="16" name="Freeform 16">
              <a:extLst>
                <a:ext uri="{FF2B5EF4-FFF2-40B4-BE49-F238E27FC236}">
                  <a16:creationId xmlns:a16="http://schemas.microsoft.com/office/drawing/2014/main" id="{A7FD66A6-22C8-49B9-6FDD-90AB73326B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9C2">
                    <a:alpha val="100000"/>
                  </a:srgbClr>
                </a:gs>
                <a:gs pos="100000">
                  <a:srgbClr val="2932FF">
                    <a:alpha val="100000"/>
                  </a:srgbClr>
                </a:gs>
              </a:gsLst>
              <a:lin ang="0"/>
            </a:gradFill>
          </p:spPr>
        </p:sp>
        <p:sp>
          <p:nvSpPr>
            <p:cNvPr id="17" name="TextBox 17">
              <a:extLst>
                <a:ext uri="{FF2B5EF4-FFF2-40B4-BE49-F238E27FC236}">
                  <a16:creationId xmlns:a16="http://schemas.microsoft.com/office/drawing/2014/main" id="{9C4833EC-9EA3-39CE-379B-6D2B95B9FF1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sp>
        <p:nvSpPr>
          <p:cNvPr id="21" name="PlaceHolder 1">
            <a:extLst>
              <a:ext uri="{FF2B5EF4-FFF2-40B4-BE49-F238E27FC236}">
                <a16:creationId xmlns:a16="http://schemas.microsoft.com/office/drawing/2014/main" id="{FE96F02E-A0B0-3C53-A5C2-9429B5559ED5}"/>
              </a:ext>
            </a:extLst>
          </p:cNvPr>
          <p:cNvSpPr>
            <a:spLocks noGrp="1"/>
          </p:cNvSpPr>
          <p:nvPr/>
        </p:nvSpPr>
        <p:spPr>
          <a:xfrm>
            <a:off x="6305990" y="4134983"/>
            <a:ext cx="7239000" cy="1447800"/>
          </a:xfrm>
          <a:prstGeom prst="rect">
            <a:avLst/>
          </a:prstGeom>
          <a:noFill/>
          <a:ln w="0">
            <a:noFill/>
          </a:ln>
        </p:spPr>
        <p:txBody>
          <a:bodyPr lIns="91440" tIns="91440" rIns="91440" bIns="9144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4433"/>
              </a:lnSpc>
            </a:pPr>
            <a:r>
              <a:rPr lang="en-US" sz="4800" b="1" spc="88" dirty="0">
                <a:solidFill>
                  <a:srgbClr val="171FD0"/>
                </a:solidFill>
                <a:latin typeface="Times New Roman" panose="02020603050405020304" pitchFamily="18" charset="0"/>
                <a:ea typeface="Montserrat Bold"/>
                <a:cs typeface="Times New Roman" panose="02020603050405020304" pitchFamily="18" charset="0"/>
                <a:sym typeface="Montserrat Bold"/>
              </a:rPr>
              <a:t>REMARQUES ET QUESTIONS ?</a:t>
            </a:r>
          </a:p>
        </p:txBody>
      </p:sp>
    </p:spTree>
    <p:extLst>
      <p:ext uri="{BB962C8B-B14F-4D97-AF65-F5344CB8AC3E}">
        <p14:creationId xmlns:p14="http://schemas.microsoft.com/office/powerpoint/2010/main" val="3224238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2358</Words>
  <Application>Microsoft Office PowerPoint</Application>
  <PresentationFormat>Personnalisé</PresentationFormat>
  <Paragraphs>189</Paragraphs>
  <Slides>37</Slides>
  <Notes>35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37</vt:i4>
      </vt:variant>
    </vt:vector>
  </HeadingPairs>
  <TitlesOfParts>
    <vt:vector size="44" baseType="lpstr">
      <vt:lpstr>Wingdings</vt:lpstr>
      <vt:lpstr>Algerian</vt:lpstr>
      <vt:lpstr>Calibri</vt:lpstr>
      <vt:lpstr>Arial</vt:lpstr>
      <vt:lpstr>Times New Roman</vt:lpstr>
      <vt:lpstr>Arial Black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Contexte général</vt:lpstr>
      <vt:lpstr>Objectifs du projet</vt:lpstr>
      <vt:lpstr>Moyens techniques</vt:lpstr>
      <vt:lpstr>Moyens techniques</vt:lpstr>
      <vt:lpstr>Résultats attendus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projet entreprise moderne dégradé bleu</dc:title>
  <dc:creator>ghost</dc:creator>
  <cp:lastModifiedBy>ghost</cp:lastModifiedBy>
  <cp:revision>45</cp:revision>
  <dcterms:created xsi:type="dcterms:W3CDTF">2006-08-16T00:00:00Z</dcterms:created>
  <dcterms:modified xsi:type="dcterms:W3CDTF">2025-12-08T16:11:34Z</dcterms:modified>
  <dc:identifier>DAG6boZHc3k</dc:identifier>
</cp:coreProperties>
</file>